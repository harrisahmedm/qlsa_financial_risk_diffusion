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66" r:id="rId3"/>
    <p:sldId id="258" r:id="rId4"/>
    <p:sldId id="267" r:id="rId5"/>
    <p:sldId id="268" r:id="rId6"/>
    <p:sldId id="269" r:id="rId7"/>
    <p:sldId id="259" r:id="rId8"/>
    <p:sldId id="261" r:id="rId9"/>
    <p:sldId id="270" r:id="rId10"/>
    <p:sldId id="271" r:id="rId11"/>
    <p:sldId id="280" r:id="rId12"/>
    <p:sldId id="279" r:id="rId13"/>
    <p:sldId id="281" r:id="rId14"/>
    <p:sldId id="285" r:id="rId15"/>
    <p:sldId id="282" r:id="rId16"/>
    <p:sldId id="286" r:id="rId17"/>
    <p:sldId id="287" r:id="rId18"/>
    <p:sldId id="272" r:id="rId19"/>
    <p:sldId id="273" r:id="rId20"/>
    <p:sldId id="274" r:id="rId21"/>
    <p:sldId id="264" r:id="rId22"/>
    <p:sldId id="26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53D7A2-EC32-98AF-A3F7-4807E9C71449}" v="1417" dt="2026-07-06T18:19:33.081"/>
    <p1510:client id="{36890060-4560-411C-9CA2-592A9207002E}" v="134" dt="2026-07-05T11:21:13.138"/>
    <p1510:client id="{6D9FCDFE-77BD-F81F-E57F-633662D2DD70}" v="122" dt="2026-07-07T08:00:36.151"/>
    <p1510:client id="{A8FDC38A-D505-865E-DCBE-2CAE1FB6BC93}" v="18" dt="2026-07-05T13:17:15.0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0CAC48-5E57-44BA-8FC5-EED72EA9640C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F2BC866A-2759-4594-993A-981394CFEADC}">
      <dgm:prSet phldrT="[Text]" phldr="0" custT="1"/>
      <dgm:spPr/>
      <dgm:t>
        <a:bodyPr/>
        <a:lstStyle/>
        <a:p>
          <a:pPr rtl="0"/>
          <a:r>
            <a:rPr lang="en-US" sz="1800">
              <a:solidFill>
                <a:schemeClr val="bg1"/>
              </a:solidFill>
              <a:latin typeface="Aptos Display" panose="020F0302020204030204"/>
            </a:rPr>
            <a:t>Financial Model </a:t>
          </a:r>
          <a:br>
            <a:rPr lang="en-US" sz="1800">
              <a:solidFill>
                <a:schemeClr val="bg1"/>
              </a:solidFill>
              <a:latin typeface="Aptos Display" panose="020F0302020204030204"/>
            </a:rPr>
          </a:br>
          <a:endParaRPr lang="en-US" sz="1800">
            <a:solidFill>
              <a:schemeClr val="bg1"/>
            </a:solidFill>
            <a:latin typeface="Aptos Display" panose="020F0302020204030204"/>
          </a:endParaRPr>
        </a:p>
      </dgm:t>
    </dgm:pt>
    <dgm:pt modelId="{327FC078-446F-4DE0-AF45-375410363608}" type="parTrans" cxnId="{90748F05-EC6B-4E5C-8AA6-08F3EBA7CF3D}">
      <dgm:prSet/>
      <dgm:spPr/>
    </dgm:pt>
    <dgm:pt modelId="{9B50A51E-4CEB-4F44-B069-92E8E78796FF}" type="sibTrans" cxnId="{90748F05-EC6B-4E5C-8AA6-08F3EBA7CF3D}">
      <dgm:prSet/>
      <dgm:spPr/>
      <dgm:t>
        <a:bodyPr/>
        <a:lstStyle/>
        <a:p>
          <a:endParaRPr lang="en-US"/>
        </a:p>
      </dgm:t>
    </dgm:pt>
    <dgm:pt modelId="{C68A7E83-AFBA-4AE5-B8AE-746A89C2D484}">
      <dgm:prSet phldrT="[Text]" phldr="0"/>
      <dgm:spPr/>
      <dgm:t>
        <a:bodyPr/>
        <a:lstStyle/>
        <a:p>
          <a:pPr rtl="0"/>
          <a:r>
            <a:rPr lang="en-US" sz="1800">
              <a:latin typeface="Aptos Display" panose="020F0302020204030204"/>
            </a:rPr>
            <a:t>Represent A </a:t>
          </a:r>
          <a:br>
            <a:rPr lang="en-US" sz="1800">
              <a:solidFill>
                <a:srgbClr val="000000"/>
              </a:solidFill>
              <a:latin typeface="Aptos Display" panose="020F0302020204030204"/>
            </a:rPr>
          </a:br>
          <a:endParaRPr lang="en-US" sz="1800">
            <a:solidFill>
              <a:srgbClr val="000000"/>
            </a:solidFill>
            <a:latin typeface="Aptos Display" panose="020F0302020204030204"/>
          </a:endParaRPr>
        </a:p>
      </dgm:t>
    </dgm:pt>
    <dgm:pt modelId="{70BAE47C-A2A6-4AC4-9D2A-C89547A49C7B}" type="parTrans" cxnId="{F186B8C2-F8DC-4AD1-81AC-3B0D487FB308}">
      <dgm:prSet/>
      <dgm:spPr/>
    </dgm:pt>
    <dgm:pt modelId="{2F3BB442-E409-44C5-99B9-E82E427CF6AD}" type="sibTrans" cxnId="{F186B8C2-F8DC-4AD1-81AC-3B0D487FB308}">
      <dgm:prSet/>
      <dgm:spPr/>
      <dgm:t>
        <a:bodyPr/>
        <a:lstStyle/>
        <a:p>
          <a:endParaRPr lang="en-US"/>
        </a:p>
      </dgm:t>
    </dgm:pt>
    <dgm:pt modelId="{332D60CB-8B62-41C3-9CBB-A0EF162A4C5C}">
      <dgm:prSet phldrT="[Text]" phldr="0"/>
      <dgm:spPr/>
      <dgm:t>
        <a:bodyPr/>
        <a:lstStyle/>
        <a:p>
          <a:pPr rtl="0"/>
          <a:r>
            <a:rPr lang="en-US" sz="1800">
              <a:latin typeface="Aptos Display" panose="020F0302020204030204"/>
            </a:rPr>
            <a:t>Invert Eigenvalues </a:t>
          </a:r>
          <a:endParaRPr lang="en-US" sz="1800">
            <a:solidFill>
              <a:srgbClr val="000000"/>
            </a:solidFill>
            <a:latin typeface="Aptos Display" panose="020F0302020204030204"/>
          </a:endParaRPr>
        </a:p>
      </dgm:t>
    </dgm:pt>
    <dgm:pt modelId="{4456CAE6-6A9F-418F-B317-C798875BAF1B}" type="parTrans" cxnId="{224F3035-C1FD-4E26-A69E-C4B5626F7621}">
      <dgm:prSet/>
      <dgm:spPr/>
    </dgm:pt>
    <dgm:pt modelId="{7B6DDB4F-77BE-4F0F-BC94-0BFA3A814525}" type="sibTrans" cxnId="{224F3035-C1FD-4E26-A69E-C4B5626F7621}">
      <dgm:prSet/>
      <dgm:spPr/>
      <dgm:t>
        <a:bodyPr/>
        <a:lstStyle/>
        <a:p>
          <a:endParaRPr lang="en-US"/>
        </a:p>
      </dgm:t>
    </dgm:pt>
    <dgm:pt modelId="{81F44346-BFF4-43B9-9D6F-DFBE68CF8B22}">
      <dgm:prSet phldrT="[Text]" phldr="0" custT="1"/>
      <dgm:spPr/>
      <dgm:t>
        <a:bodyPr/>
        <a:lstStyle/>
        <a:p>
          <a:pPr rtl="0"/>
          <a:r>
            <a:rPr lang="en-US" sz="1800">
              <a:solidFill>
                <a:schemeClr val="bg1"/>
              </a:solidFill>
              <a:latin typeface="Aptos Display" panose="020F0302020204030204"/>
            </a:rPr>
            <a:t>Readout</a:t>
          </a:r>
          <a:br>
            <a:rPr lang="en-US" sz="1800">
              <a:solidFill>
                <a:schemeClr val="bg1"/>
              </a:solidFill>
              <a:latin typeface="Aptos Display" panose="020F0302020204030204"/>
            </a:rPr>
          </a:br>
          <a:br>
            <a:rPr lang="en-US" sz="1800">
              <a:latin typeface="Aptos Display" panose="020F0302020204030204"/>
            </a:rPr>
          </a:br>
          <a:r>
            <a:rPr lang="en-US" sz="1600">
              <a:latin typeface="Aptos Display"/>
              <a:ea typeface="Calibri"/>
              <a:cs typeface="Calibri"/>
            </a:rPr>
            <a:t>(Measurement)</a:t>
          </a:r>
          <a:br>
            <a:rPr lang="en-US" sz="1600">
              <a:latin typeface="Aptos Display"/>
              <a:ea typeface="Calibri"/>
              <a:cs typeface="Calibri"/>
            </a:rPr>
          </a:br>
          <a:br>
            <a:rPr lang="en-US" sz="1600">
              <a:latin typeface="Aptos Display"/>
              <a:ea typeface="Calibri"/>
              <a:cs typeface="Calibri"/>
            </a:rPr>
          </a:br>
          <a:r>
            <a:rPr lang="en-US" sz="1600">
              <a:latin typeface="Aptos Display"/>
              <a:ea typeface="Calibri"/>
              <a:cs typeface="Calibri"/>
            </a:rPr>
            <a:t>2 use cases</a:t>
          </a:r>
          <a:r>
            <a:rPr lang="en-US" sz="1600">
              <a:solidFill>
                <a:schemeClr val="bg1"/>
              </a:solidFill>
              <a:latin typeface="Aptos Display" panose="020F0302020204030204"/>
            </a:rPr>
            <a:t> </a:t>
          </a:r>
        </a:p>
      </dgm:t>
    </dgm:pt>
    <dgm:pt modelId="{C99F15F2-DC2D-47B3-9531-147097060B25}" type="parTrans" cxnId="{51AFB339-7B42-4AF9-9A83-4C7F011C23E5}">
      <dgm:prSet/>
      <dgm:spPr/>
    </dgm:pt>
    <dgm:pt modelId="{B906E8B3-1E65-47AE-A872-FE4CCE0A77EA}" type="sibTrans" cxnId="{51AFB339-7B42-4AF9-9A83-4C7F011C23E5}">
      <dgm:prSet/>
      <dgm:spPr/>
      <dgm:t>
        <a:bodyPr/>
        <a:lstStyle/>
        <a:p>
          <a:endParaRPr lang="en-US"/>
        </a:p>
      </dgm:t>
    </dgm:pt>
    <dgm:pt modelId="{B0EB1111-472D-4FB3-AC1B-FDAC6643ED46}">
      <dgm:prSet phldrT="[Text]" phldr="0"/>
      <dgm:spPr/>
      <dgm:t>
        <a:bodyPr/>
        <a:lstStyle/>
        <a:p>
          <a:pPr rtl="0"/>
          <a:r>
            <a:rPr lang="en-US" sz="1400">
              <a:latin typeface="Aptos Display" panose="020F0302020204030204"/>
            </a:rPr>
            <a:t> QPE-Based </a:t>
          </a:r>
          <a:br>
            <a:rPr lang="en-US" sz="1400">
              <a:latin typeface="Aptos Display" panose="020F0302020204030204"/>
            </a:rPr>
          </a:br>
          <a:r>
            <a:rPr lang="en-US" sz="1400">
              <a:latin typeface="Aptos Display" panose="020F0302020204030204"/>
            </a:rPr>
            <a:t>(Traditional HHL,</a:t>
          </a:r>
          <a:br>
            <a:rPr lang="en-US" sz="1400">
              <a:latin typeface="Aptos Display" panose="020F0302020204030204"/>
            </a:rPr>
          </a:br>
          <a:r>
            <a:rPr lang="en-US" sz="1400">
              <a:latin typeface="Aptos Display" panose="020F0302020204030204"/>
            </a:rPr>
            <a:t>Berry-Childs HHL – 2 variants) </a:t>
          </a:r>
          <a:br>
            <a:rPr lang="en-US" sz="1400">
              <a:solidFill>
                <a:srgbClr val="000000"/>
              </a:solidFill>
              <a:latin typeface="Aptos Display" panose="020F0302020204030204"/>
            </a:rPr>
          </a:br>
          <a:br>
            <a:rPr lang="en-US" sz="1400">
              <a:latin typeface="Aptos Display" panose="020F0302020204030204"/>
            </a:rPr>
          </a:br>
          <a:r>
            <a:rPr lang="en-US" sz="1400">
              <a:latin typeface="Aptos Display" panose="020F0302020204030204"/>
            </a:rPr>
            <a:t>QSVT-Based</a:t>
          </a:r>
          <a:br>
            <a:rPr lang="en-US" sz="1400">
              <a:latin typeface="Aptos Display" panose="020F0302020204030204"/>
            </a:rPr>
          </a:br>
          <a:endParaRPr lang="en-US" sz="1400">
            <a:solidFill>
              <a:schemeClr val="bg1"/>
            </a:solidFill>
            <a:latin typeface="Aptos Display" panose="020F0302020204030204"/>
          </a:endParaRPr>
        </a:p>
      </dgm:t>
    </dgm:pt>
    <dgm:pt modelId="{C3B68A3B-EDF6-4E1B-874C-A4E17663BEB8}" type="parTrans" cxnId="{1A331FE4-BEC0-4A6D-8B26-D3C5B61E1EEC}">
      <dgm:prSet/>
      <dgm:spPr/>
    </dgm:pt>
    <dgm:pt modelId="{6419A9D7-6F3A-49FF-87D9-1775520395E0}" type="sibTrans" cxnId="{1A331FE4-BEC0-4A6D-8B26-D3C5B61E1EEC}">
      <dgm:prSet/>
      <dgm:spPr/>
      <dgm:t>
        <a:bodyPr/>
        <a:lstStyle/>
        <a:p>
          <a:endParaRPr lang="en-US"/>
        </a:p>
      </dgm:t>
    </dgm:pt>
    <dgm:pt modelId="{C0CCC7D1-7E45-49BB-9D95-13A8FE501FFD}">
      <dgm:prSet phldrT="[Text]" phldr="0" custT="1"/>
      <dgm:spPr/>
      <dgm:t>
        <a:bodyPr/>
        <a:lstStyle/>
        <a:p>
          <a:pPr rtl="0"/>
          <a:r>
            <a:rPr lang="en-US" sz="1800">
              <a:latin typeface="Aptos Display"/>
              <a:ea typeface="Calibri"/>
              <a:cs typeface="Calibri"/>
            </a:rPr>
            <a:t>Prepare |b&gt; </a:t>
          </a:r>
          <a:br>
            <a:rPr lang="en-US" sz="1800">
              <a:latin typeface="Aptos Display"/>
              <a:ea typeface="Calibri"/>
              <a:cs typeface="Calibri"/>
            </a:rPr>
          </a:br>
          <a:br>
            <a:rPr lang="en-US" sz="1800">
              <a:latin typeface="Aptos Display"/>
              <a:ea typeface="Calibri"/>
              <a:cs typeface="Calibri"/>
            </a:rPr>
          </a:br>
          <a:r>
            <a:rPr lang="en-US" sz="1800">
              <a:latin typeface="Aptos Display"/>
              <a:ea typeface="Calibri"/>
              <a:cs typeface="Calibri"/>
            </a:rPr>
            <a:t>(Sparse State Preparation)</a:t>
          </a:r>
          <a:br>
            <a:rPr lang="en-US" sz="1800">
              <a:latin typeface="Aptos Display"/>
              <a:ea typeface="Calibri"/>
              <a:cs typeface="Calibri"/>
            </a:rPr>
          </a:br>
          <a:br>
            <a:rPr lang="en-US" sz="1800">
              <a:latin typeface="Aptos Display"/>
              <a:ea typeface="Calibri"/>
              <a:cs typeface="Calibri"/>
            </a:rPr>
          </a:br>
          <a:r>
            <a:rPr lang="en-US" sz="1800">
              <a:latin typeface="Aptos Display"/>
              <a:ea typeface="Calibri"/>
              <a:cs typeface="Calibri"/>
            </a:rPr>
            <a:t>2 methods</a:t>
          </a:r>
          <a:endParaRPr lang="en-US" sz="1800">
            <a:solidFill>
              <a:srgbClr val="000000"/>
            </a:solidFill>
            <a:latin typeface="Aptos Display"/>
            <a:ea typeface="Calibri"/>
            <a:cs typeface="Calibri"/>
          </a:endParaRPr>
        </a:p>
      </dgm:t>
    </dgm:pt>
    <dgm:pt modelId="{1D1501A3-7B3B-44F8-8FE6-1A4D40F71796}" type="parTrans" cxnId="{1143DD5B-23CF-4273-8DC9-E970EBF10B91}">
      <dgm:prSet/>
      <dgm:spPr/>
    </dgm:pt>
    <dgm:pt modelId="{9218C575-E9A8-463F-A9E7-5A014BB84580}" type="sibTrans" cxnId="{1143DD5B-23CF-4273-8DC9-E970EBF10B91}">
      <dgm:prSet/>
      <dgm:spPr/>
      <dgm:t>
        <a:bodyPr/>
        <a:lstStyle/>
        <a:p>
          <a:endParaRPr lang="en-US"/>
        </a:p>
      </dgm:t>
    </dgm:pt>
    <dgm:pt modelId="{431103CC-4457-4B46-878A-96032579AB6C}">
      <dgm:prSet phldrT="[Text]" phldr="0" custT="1"/>
      <dgm:spPr/>
      <dgm:t>
        <a:bodyPr/>
        <a:lstStyle/>
        <a:p>
          <a:pPr rtl="0"/>
          <a:r>
            <a:rPr lang="en-US" sz="1600">
              <a:solidFill>
                <a:schemeClr val="bg1"/>
              </a:solidFill>
            </a:rPr>
            <a:t>Adjacency matrix</a:t>
          </a:r>
          <a:endParaRPr lang="en-US" sz="1600">
            <a:solidFill>
              <a:schemeClr val="bg1"/>
            </a:solidFill>
            <a:latin typeface="Aptos Display" panose="020F0302020204030204"/>
          </a:endParaRPr>
        </a:p>
      </dgm:t>
    </dgm:pt>
    <dgm:pt modelId="{AA1EC59A-4215-4287-9210-9B4171D28673}" type="parTrans" cxnId="{631CD8A7-8C13-4F32-AF41-859639231E5E}">
      <dgm:prSet/>
      <dgm:spPr/>
    </dgm:pt>
    <dgm:pt modelId="{F40D91B5-8B8E-43CA-9829-7A5B51800067}" type="sibTrans" cxnId="{631CD8A7-8C13-4F32-AF41-859639231E5E}">
      <dgm:prSet/>
      <dgm:spPr/>
      <dgm:t>
        <a:bodyPr/>
        <a:lstStyle/>
        <a:p>
          <a:endParaRPr lang="en-US"/>
        </a:p>
      </dgm:t>
    </dgm:pt>
    <dgm:pt modelId="{ED1CAD06-741A-4FB7-8B4D-F715CE773948}">
      <dgm:prSet phldrT="[Text]" phldr="0"/>
      <dgm:spPr/>
      <dgm:t>
        <a:bodyPr/>
        <a:lstStyle/>
        <a:p>
          <a:pPr rtl="0"/>
          <a:r>
            <a:rPr lang="en-US" sz="1600">
              <a:solidFill>
                <a:schemeClr val="bg1"/>
              </a:solidFill>
              <a:latin typeface="Aptos Display"/>
              <a:ea typeface="Calibri"/>
              <a:cs typeface="Calibri"/>
            </a:rPr>
            <a:t>Normalized Laplacian</a:t>
          </a:r>
          <a:endParaRPr lang="en-US" sz="1600">
            <a:solidFill>
              <a:schemeClr val="bg1"/>
            </a:solidFill>
            <a:latin typeface="Aptos Display" panose="020F0302020204030204"/>
          </a:endParaRPr>
        </a:p>
      </dgm:t>
    </dgm:pt>
    <dgm:pt modelId="{EAB0C12D-40E4-42FA-9D27-C137E1C6C4EA}" type="parTrans" cxnId="{77EEF400-C2EE-474D-8D96-0DF2D536D4A4}">
      <dgm:prSet/>
      <dgm:spPr/>
    </dgm:pt>
    <dgm:pt modelId="{71BF2A0F-611A-4F8C-AD76-46E199B4424D}" type="sibTrans" cxnId="{77EEF400-C2EE-474D-8D96-0DF2D536D4A4}">
      <dgm:prSet/>
      <dgm:spPr/>
      <dgm:t>
        <a:bodyPr/>
        <a:lstStyle/>
        <a:p>
          <a:endParaRPr lang="en-US"/>
        </a:p>
      </dgm:t>
    </dgm:pt>
    <dgm:pt modelId="{12D09C5B-9017-4D57-8267-25E806DEE923}">
      <dgm:prSet phldrT="[Text]" phldr="0"/>
      <dgm:spPr/>
      <dgm:t>
        <a:bodyPr/>
        <a:lstStyle/>
        <a:p>
          <a:pPr rtl="0"/>
          <a:r>
            <a:rPr lang="en-US" sz="1600">
              <a:solidFill>
                <a:schemeClr val="bg1"/>
              </a:solidFill>
            </a:rPr>
            <a:t>Linear system</a:t>
          </a:r>
          <a:br>
            <a:rPr lang="en-US" sz="1600">
              <a:solidFill>
                <a:schemeClr val="bg1"/>
              </a:solidFill>
              <a:latin typeface="Aptos Display" panose="020F0302020204030204"/>
            </a:rPr>
          </a:br>
          <a:endParaRPr lang="en-US" sz="1600">
            <a:solidFill>
              <a:schemeClr val="bg1"/>
            </a:solidFill>
          </a:endParaRPr>
        </a:p>
      </dgm:t>
    </dgm:pt>
    <dgm:pt modelId="{AEAE2196-4D02-4C25-AC7A-3448F692474E}" type="parTrans" cxnId="{09D75479-4240-449B-B655-E56C9648B9E1}">
      <dgm:prSet/>
      <dgm:spPr/>
    </dgm:pt>
    <dgm:pt modelId="{2D8A8F79-E614-4A57-9004-278FC1F35197}" type="sibTrans" cxnId="{09D75479-4240-449B-B655-E56C9648B9E1}">
      <dgm:prSet/>
      <dgm:spPr/>
      <dgm:t>
        <a:bodyPr/>
        <a:lstStyle/>
        <a:p>
          <a:endParaRPr lang="en-US"/>
        </a:p>
      </dgm:t>
    </dgm:pt>
    <dgm:pt modelId="{D7774C76-BEB4-4CCC-BF39-6FDDDA3EDBCC}">
      <dgm:prSet phldrT="[Text]" phldr="0" custT="1"/>
      <dgm:spPr/>
      <dgm:t>
        <a:bodyPr/>
        <a:lstStyle/>
        <a:p>
          <a:pPr rtl="0"/>
          <a:r>
            <a:rPr lang="en-US" sz="1600">
              <a:latin typeface="Aptos Display" panose="020F0302020204030204"/>
            </a:rPr>
            <a:t>Hamiltonian Simulation</a:t>
          </a:r>
          <a:br>
            <a:rPr lang="en-US" sz="1600">
              <a:latin typeface="Aptos Display" panose="020F0302020204030204"/>
            </a:rPr>
          </a:br>
          <a:r>
            <a:rPr lang="en-US" sz="1600">
              <a:latin typeface="Aptos Display" panose="020F0302020204030204"/>
            </a:rPr>
            <a:t>(</a:t>
          </a:r>
          <a:r>
            <a:rPr lang="en-US" sz="1600" err="1">
              <a:latin typeface="Aptos Display" panose="020F0302020204030204"/>
            </a:rPr>
            <a:t>Trotterization</a:t>
          </a:r>
          <a:r>
            <a:rPr lang="en-US" sz="1600">
              <a:latin typeface="Aptos Display" panose="020F0302020204030204"/>
            </a:rPr>
            <a:t>)</a:t>
          </a:r>
          <a:br>
            <a:rPr lang="en-US"/>
          </a:br>
          <a:endParaRPr lang="en-US" sz="1600">
            <a:latin typeface="Aptos Display" panose="020F0302020204030204"/>
          </a:endParaRPr>
        </a:p>
      </dgm:t>
    </dgm:pt>
    <dgm:pt modelId="{25DA1DCF-0E5C-43A4-B40E-96700FDAA048}" type="parTrans" cxnId="{305B01D6-9F38-4BE0-AD3D-BA07AB393911}">
      <dgm:prSet/>
      <dgm:spPr/>
    </dgm:pt>
    <dgm:pt modelId="{A905B939-3650-4E5F-B17A-3752422D4512}" type="sibTrans" cxnId="{305B01D6-9F38-4BE0-AD3D-BA07AB393911}">
      <dgm:prSet/>
      <dgm:spPr/>
      <dgm:t>
        <a:bodyPr/>
        <a:lstStyle/>
        <a:p>
          <a:endParaRPr lang="en-US"/>
        </a:p>
      </dgm:t>
    </dgm:pt>
    <dgm:pt modelId="{C37F04AF-E5BC-4E3A-A91C-00F69830A0ED}">
      <dgm:prSet phldrT="[Text]" phldr="0"/>
      <dgm:spPr/>
      <dgm:t>
        <a:bodyPr/>
        <a:lstStyle/>
        <a:p>
          <a:pPr rtl="0"/>
          <a:r>
            <a:rPr lang="en-US" sz="1600">
              <a:latin typeface="Aptos Display" panose="020F0302020204030204"/>
            </a:rPr>
            <a:t>Block Encoding</a:t>
          </a:r>
          <a:br>
            <a:rPr lang="en-US" sz="1600">
              <a:solidFill>
                <a:srgbClr val="000000"/>
              </a:solidFill>
              <a:latin typeface="Aptos Display" panose="020F0302020204030204"/>
            </a:rPr>
          </a:br>
          <a:r>
            <a:rPr lang="en-US" sz="1600">
              <a:latin typeface="Aptos Display" panose="020F0302020204030204"/>
            </a:rPr>
            <a:t>(Berry-Childs, LCU)</a:t>
          </a:r>
          <a:br>
            <a:rPr lang="en-US" sz="1600">
              <a:latin typeface="Aptos Display" panose="020F0302020204030204"/>
            </a:rPr>
          </a:br>
          <a:endParaRPr lang="en-US" sz="1600"/>
        </a:p>
      </dgm:t>
    </dgm:pt>
    <dgm:pt modelId="{6A063E15-22ED-4ED6-A2AF-AAF6EA45F6A5}" type="parTrans" cxnId="{85C124EF-4849-4F0A-887A-1D57931E4CB7}">
      <dgm:prSet/>
      <dgm:spPr/>
    </dgm:pt>
    <dgm:pt modelId="{2669A6D6-2150-4EA2-B4A9-94A9AE224CC9}" type="sibTrans" cxnId="{85C124EF-4849-4F0A-887A-1D57931E4CB7}">
      <dgm:prSet/>
      <dgm:spPr/>
      <dgm:t>
        <a:bodyPr/>
        <a:lstStyle/>
        <a:p>
          <a:endParaRPr lang="en-US"/>
        </a:p>
      </dgm:t>
    </dgm:pt>
    <dgm:pt modelId="{BA0B90A4-6324-4BE2-9760-F66E367D6182}">
      <dgm:prSet phldrT="[Text]" phldr="0" custT="1"/>
      <dgm:spPr/>
      <dgm:t>
        <a:bodyPr/>
        <a:lstStyle/>
        <a:p>
          <a:pPr rtl="0"/>
          <a:r>
            <a:rPr lang="en-US" sz="1400">
              <a:latin typeface="Aptos Display" panose="020F0302020204030204"/>
            </a:rPr>
            <a:t>Basis</a:t>
          </a:r>
          <a:r>
            <a:rPr lang="en-US" sz="1400">
              <a:solidFill>
                <a:schemeClr val="bg1"/>
              </a:solidFill>
              <a:latin typeface="Aptos Display" panose="020F0302020204030204"/>
            </a:rPr>
            <a:t> sampling (top k)</a:t>
          </a:r>
        </a:p>
      </dgm:t>
    </dgm:pt>
    <dgm:pt modelId="{BDC06C40-07BC-4B25-A73C-DF4A8F2340B7}" type="parTrans" cxnId="{6FF074E1-EC6F-4C03-8CAC-8B7D11B1A44C}">
      <dgm:prSet/>
      <dgm:spPr/>
    </dgm:pt>
    <dgm:pt modelId="{C2A3EF5C-665C-41D4-8AD7-B9CE95821362}" type="sibTrans" cxnId="{6FF074E1-EC6F-4C03-8CAC-8B7D11B1A44C}">
      <dgm:prSet/>
      <dgm:spPr/>
    </dgm:pt>
    <dgm:pt modelId="{1452E502-C5C0-4068-9ABD-78A3C6CFB521}">
      <dgm:prSet phldrT="[Text]" phldr="0"/>
      <dgm:spPr/>
      <dgm:t>
        <a:bodyPr/>
        <a:lstStyle/>
        <a:p>
          <a:pPr rtl="0"/>
          <a:r>
            <a:rPr lang="en-US" sz="1400">
              <a:solidFill>
                <a:schemeClr val="bg1"/>
              </a:solidFill>
              <a:latin typeface="Aptos Display" panose="020F0302020204030204"/>
            </a:rPr>
            <a:t>Observable estimation </a:t>
          </a:r>
          <a:br>
            <a:rPr lang="en-US" sz="1400">
              <a:solidFill>
                <a:schemeClr val="bg1"/>
              </a:solidFill>
              <a:latin typeface="Aptos Display" panose="020F0302020204030204"/>
            </a:rPr>
          </a:br>
          <a:r>
            <a:rPr lang="en-US" sz="1400">
              <a:solidFill>
                <a:schemeClr val="bg1"/>
              </a:solidFill>
              <a:latin typeface="Aptos Display" panose="020F0302020204030204"/>
            </a:rPr>
            <a:t>(single node risk)</a:t>
          </a:r>
          <a:br>
            <a:rPr lang="en-US" sz="1400">
              <a:solidFill>
                <a:schemeClr val="bg1"/>
              </a:solidFill>
              <a:latin typeface="Aptos Display" panose="020F0302020204030204"/>
            </a:rPr>
          </a:br>
          <a:br>
            <a:rPr lang="en-US" sz="1400">
              <a:solidFill>
                <a:schemeClr val="bg1"/>
              </a:solidFill>
              <a:latin typeface="Aptos Display" panose="020F0302020204030204"/>
            </a:rPr>
          </a:br>
          <a:endParaRPr lang="en-US"/>
        </a:p>
      </dgm:t>
    </dgm:pt>
    <dgm:pt modelId="{9C22858C-6B1E-4DAF-9654-BA70777BFE94}" type="parTrans" cxnId="{8FD7CAF7-8BE3-46A1-8823-2E485010E27B}">
      <dgm:prSet/>
      <dgm:spPr/>
    </dgm:pt>
    <dgm:pt modelId="{DBA386A2-B26D-4A99-A293-614108A9E344}" type="sibTrans" cxnId="{8FD7CAF7-8BE3-46A1-8823-2E485010E27B}">
      <dgm:prSet/>
      <dgm:spPr/>
    </dgm:pt>
    <dgm:pt modelId="{67CF53FB-70B3-4F51-93DB-940D97B93AC4}">
      <dgm:prSet phldrT="[Text]" phldr="0"/>
      <dgm:spPr/>
      <dgm:t>
        <a:bodyPr/>
        <a:lstStyle/>
        <a:p>
          <a:pPr rtl="0"/>
          <a:r>
            <a:rPr lang="en-US" sz="1400">
              <a:latin typeface="Aptos Display" panose="020F0302020204030204"/>
            </a:rPr>
            <a:t>Polynomial Approximation</a:t>
          </a:r>
          <a:br>
            <a:rPr lang="en-US" sz="1400">
              <a:latin typeface="Aptos Display" panose="020F0302020204030204"/>
            </a:rPr>
          </a:br>
          <a:endParaRPr lang="en-US" sz="1400">
            <a:latin typeface="Aptos Display" panose="020F0302020204030204"/>
          </a:endParaRPr>
        </a:p>
      </dgm:t>
    </dgm:pt>
    <dgm:pt modelId="{AE10DDDF-7B1F-4E3C-A9E2-C04C0816F1E7}" type="parTrans" cxnId="{7D36CC8F-E13E-40E4-8839-5BC10087382A}">
      <dgm:prSet/>
      <dgm:spPr/>
    </dgm:pt>
    <dgm:pt modelId="{3C2A93AD-EC70-4C90-8573-3E6337C732A1}" type="sibTrans" cxnId="{7D36CC8F-E13E-40E4-8839-5BC10087382A}">
      <dgm:prSet/>
      <dgm:spPr/>
    </dgm:pt>
    <dgm:pt modelId="{0A39437C-D1D9-4EFF-A137-1CD066536FDD}">
      <dgm:prSet phldrT="[Text]" phldr="0"/>
      <dgm:spPr/>
      <dgm:t>
        <a:bodyPr/>
        <a:lstStyle/>
        <a:p>
          <a:pPr rtl="0"/>
          <a:r>
            <a:rPr lang="en-US" sz="1400" err="1">
              <a:latin typeface="Aptos Display"/>
              <a:ea typeface="Calibri"/>
              <a:cs typeface="Calibri"/>
            </a:rPr>
            <a:t>Gleinig</a:t>
          </a:r>
          <a:r>
            <a:rPr lang="en-US" sz="1400">
              <a:latin typeface="Aptos Display"/>
              <a:ea typeface="Calibri"/>
              <a:cs typeface="Calibri"/>
            </a:rPr>
            <a:t>-Hoefler</a:t>
          </a:r>
          <a:endParaRPr lang="en-US" sz="1400">
            <a:solidFill>
              <a:srgbClr val="000000"/>
            </a:solidFill>
            <a:latin typeface="Aptos Display"/>
            <a:ea typeface="Calibri"/>
            <a:cs typeface="Calibri"/>
          </a:endParaRPr>
        </a:p>
      </dgm:t>
    </dgm:pt>
    <dgm:pt modelId="{3A4CBD63-A7E2-4A3B-ABE5-CFF52A10857E}" type="parTrans" cxnId="{6735B845-E9DF-44F2-A4A8-FA6263D33CB4}">
      <dgm:prSet/>
      <dgm:spPr/>
    </dgm:pt>
    <dgm:pt modelId="{9904C336-069F-4846-AF6A-CDF726C524D7}" type="sibTrans" cxnId="{6735B845-E9DF-44F2-A4A8-FA6263D33CB4}">
      <dgm:prSet/>
      <dgm:spPr/>
      <dgm:t>
        <a:bodyPr/>
        <a:lstStyle/>
        <a:p>
          <a:endParaRPr lang="en-US"/>
        </a:p>
      </dgm:t>
    </dgm:pt>
    <dgm:pt modelId="{F78D556A-9A9B-4E4F-A26E-6AB43C463830}">
      <dgm:prSet phldrT="[Text]" phldr="0"/>
      <dgm:spPr/>
      <dgm:t>
        <a:bodyPr/>
        <a:lstStyle/>
        <a:p>
          <a:pPr rtl="0"/>
          <a:r>
            <a:rPr lang="en-US" sz="1400">
              <a:latin typeface="Aptos Display" panose="020F0302020204030204"/>
              <a:ea typeface="Calibri"/>
              <a:cs typeface="Calibri"/>
            </a:rPr>
            <a:t>Shukla-Vedula</a:t>
          </a:r>
          <a:r>
            <a:rPr lang="en-US" sz="1400">
              <a:solidFill>
                <a:srgbClr val="000000"/>
              </a:solidFill>
              <a:latin typeface="Aptos Display" panose="020F0302020204030204"/>
              <a:ea typeface="Calibri"/>
              <a:cs typeface="Calibri"/>
            </a:rPr>
            <a:t> </a:t>
          </a:r>
          <a:r>
            <a:rPr lang="en-US" sz="1400">
              <a:latin typeface="Aptos Display" panose="020F0302020204030204"/>
              <a:ea typeface="Calibri"/>
              <a:cs typeface="Calibri"/>
            </a:rPr>
            <a:t>variant</a:t>
          </a:r>
          <a:br>
            <a:rPr lang="en-US" sz="1400">
              <a:ea typeface="Calibri"/>
              <a:cs typeface="Calibri"/>
            </a:rPr>
          </a:br>
          <a:endParaRPr lang="en-US"/>
        </a:p>
      </dgm:t>
    </dgm:pt>
    <dgm:pt modelId="{A668E9C2-EC01-41C2-B2DC-6F85A2242789}" type="parTrans" cxnId="{A05BB9C0-B316-4087-99C0-9FE2D752DB70}">
      <dgm:prSet/>
      <dgm:spPr/>
    </dgm:pt>
    <dgm:pt modelId="{F38984EF-52F4-4F1B-A27A-F0F8E38C774E}" type="sibTrans" cxnId="{A05BB9C0-B316-4087-99C0-9FE2D752DB70}">
      <dgm:prSet/>
      <dgm:spPr/>
      <dgm:t>
        <a:bodyPr/>
        <a:lstStyle/>
        <a:p>
          <a:endParaRPr lang="en-US"/>
        </a:p>
      </dgm:t>
    </dgm:pt>
    <dgm:pt modelId="{39FF3A42-46D4-4F0F-9AA4-9188744EDAB0}" type="pres">
      <dgm:prSet presAssocID="{9A0CAC48-5E57-44BA-8FC5-EED72EA9640C}" presName="Name0" presStyleCnt="0">
        <dgm:presLayoutVars>
          <dgm:dir/>
          <dgm:resizeHandles val="exact"/>
        </dgm:presLayoutVars>
      </dgm:prSet>
      <dgm:spPr/>
    </dgm:pt>
    <dgm:pt modelId="{A1882395-FAD3-4778-8371-816D4DC7F485}" type="pres">
      <dgm:prSet presAssocID="{F2BC866A-2759-4594-993A-981394CFEADC}" presName="node" presStyleLbl="node1" presStyleIdx="0" presStyleCnt="5">
        <dgm:presLayoutVars>
          <dgm:bulletEnabled val="1"/>
        </dgm:presLayoutVars>
      </dgm:prSet>
      <dgm:spPr/>
    </dgm:pt>
    <dgm:pt modelId="{4DB7EFA9-DAC5-4942-8C91-1C2E34B51887}" type="pres">
      <dgm:prSet presAssocID="{9B50A51E-4CEB-4F44-B069-92E8E78796FF}" presName="sibTrans" presStyleLbl="sibTrans2D1" presStyleIdx="0" presStyleCnt="4"/>
      <dgm:spPr/>
    </dgm:pt>
    <dgm:pt modelId="{B23DE686-8910-4754-B722-FF6774A98882}" type="pres">
      <dgm:prSet presAssocID="{9B50A51E-4CEB-4F44-B069-92E8E78796FF}" presName="connectorText" presStyleLbl="sibTrans2D1" presStyleIdx="0" presStyleCnt="4"/>
      <dgm:spPr/>
    </dgm:pt>
    <dgm:pt modelId="{81134C2B-2646-48EF-A00A-E9EC6681F6BF}" type="pres">
      <dgm:prSet presAssocID="{C0CCC7D1-7E45-49BB-9D95-13A8FE501FFD}" presName="node" presStyleLbl="node1" presStyleIdx="1" presStyleCnt="5">
        <dgm:presLayoutVars>
          <dgm:bulletEnabled val="1"/>
        </dgm:presLayoutVars>
      </dgm:prSet>
      <dgm:spPr/>
    </dgm:pt>
    <dgm:pt modelId="{3E6CAA20-7B0F-4E1E-B7ED-530A25DDADEE}" type="pres">
      <dgm:prSet presAssocID="{9218C575-E9A8-463F-A9E7-5A014BB84580}" presName="sibTrans" presStyleLbl="sibTrans2D1" presStyleIdx="1" presStyleCnt="4"/>
      <dgm:spPr/>
    </dgm:pt>
    <dgm:pt modelId="{E16D40D6-0F3F-4936-96F2-D3857D581F1A}" type="pres">
      <dgm:prSet presAssocID="{9218C575-E9A8-463F-A9E7-5A014BB84580}" presName="connectorText" presStyleLbl="sibTrans2D1" presStyleIdx="1" presStyleCnt="4"/>
      <dgm:spPr/>
    </dgm:pt>
    <dgm:pt modelId="{58FEE99E-A261-4F3C-A5FA-C699EBEB0D41}" type="pres">
      <dgm:prSet presAssocID="{C68A7E83-AFBA-4AE5-B8AE-746A89C2D484}" presName="node" presStyleLbl="node1" presStyleIdx="2" presStyleCnt="5">
        <dgm:presLayoutVars>
          <dgm:bulletEnabled val="1"/>
        </dgm:presLayoutVars>
      </dgm:prSet>
      <dgm:spPr/>
    </dgm:pt>
    <dgm:pt modelId="{CD5CA2A1-A4C4-4354-8E85-1B10959430FB}" type="pres">
      <dgm:prSet presAssocID="{2F3BB442-E409-44C5-99B9-E82E427CF6AD}" presName="sibTrans" presStyleLbl="sibTrans2D1" presStyleIdx="2" presStyleCnt="4"/>
      <dgm:spPr/>
    </dgm:pt>
    <dgm:pt modelId="{4C66FB0D-1BAD-4EE4-8A26-51A47372D0D6}" type="pres">
      <dgm:prSet presAssocID="{2F3BB442-E409-44C5-99B9-E82E427CF6AD}" presName="connectorText" presStyleLbl="sibTrans2D1" presStyleIdx="2" presStyleCnt="4"/>
      <dgm:spPr/>
    </dgm:pt>
    <dgm:pt modelId="{539ED901-6CD9-4B7A-8F1E-AA5BEDBA85DE}" type="pres">
      <dgm:prSet presAssocID="{332D60CB-8B62-41C3-9CBB-A0EF162A4C5C}" presName="node" presStyleLbl="node1" presStyleIdx="3" presStyleCnt="5">
        <dgm:presLayoutVars>
          <dgm:bulletEnabled val="1"/>
        </dgm:presLayoutVars>
      </dgm:prSet>
      <dgm:spPr/>
    </dgm:pt>
    <dgm:pt modelId="{6A8B4873-4A9F-45D3-AC8F-F9C98F4F4628}" type="pres">
      <dgm:prSet presAssocID="{7B6DDB4F-77BE-4F0F-BC94-0BFA3A814525}" presName="sibTrans" presStyleLbl="sibTrans2D1" presStyleIdx="3" presStyleCnt="4"/>
      <dgm:spPr/>
    </dgm:pt>
    <dgm:pt modelId="{629526C1-FD30-4177-8701-BF431C8D2626}" type="pres">
      <dgm:prSet presAssocID="{7B6DDB4F-77BE-4F0F-BC94-0BFA3A814525}" presName="connectorText" presStyleLbl="sibTrans2D1" presStyleIdx="3" presStyleCnt="4"/>
      <dgm:spPr/>
    </dgm:pt>
    <dgm:pt modelId="{A663C0ED-D802-43C0-A6B0-7A0277DB66B5}" type="pres">
      <dgm:prSet presAssocID="{81F44346-BFF4-43B9-9D6F-DFBE68CF8B22}" presName="node" presStyleLbl="node1" presStyleIdx="4" presStyleCnt="5">
        <dgm:presLayoutVars>
          <dgm:bulletEnabled val="1"/>
        </dgm:presLayoutVars>
      </dgm:prSet>
      <dgm:spPr/>
    </dgm:pt>
  </dgm:ptLst>
  <dgm:cxnLst>
    <dgm:cxn modelId="{77EEF400-C2EE-474D-8D96-0DF2D536D4A4}" srcId="{F2BC866A-2759-4594-993A-981394CFEADC}" destId="{ED1CAD06-741A-4FB7-8B4D-F715CE773948}" srcOrd="1" destOrd="0" parTransId="{EAB0C12D-40E4-42FA-9D27-C137E1C6C4EA}" sibTransId="{71BF2A0F-611A-4F8C-AD76-46E199B4424D}"/>
    <dgm:cxn modelId="{90748F05-EC6B-4E5C-8AA6-08F3EBA7CF3D}" srcId="{9A0CAC48-5E57-44BA-8FC5-EED72EA9640C}" destId="{F2BC866A-2759-4594-993A-981394CFEADC}" srcOrd="0" destOrd="0" parTransId="{327FC078-446F-4DE0-AF45-375410363608}" sibTransId="{9B50A51E-4CEB-4F44-B069-92E8E78796FF}"/>
    <dgm:cxn modelId="{53803B13-C113-4516-831F-0FB6B1BD3C32}" type="presOf" srcId="{9A0CAC48-5E57-44BA-8FC5-EED72EA9640C}" destId="{39FF3A42-46D4-4F0F-9AA4-9188744EDAB0}" srcOrd="0" destOrd="0" presId="urn:microsoft.com/office/officeart/2005/8/layout/process1"/>
    <dgm:cxn modelId="{FDAD1C15-C78B-45DD-A577-AE093BA33933}" type="presOf" srcId="{B0EB1111-472D-4FB3-AC1B-FDAC6643ED46}" destId="{539ED901-6CD9-4B7A-8F1E-AA5BEDBA85DE}" srcOrd="0" destOrd="2" presId="urn:microsoft.com/office/officeart/2005/8/layout/process1"/>
    <dgm:cxn modelId="{057D7D29-78A4-4732-A993-6BC9D143E99E}" type="presOf" srcId="{D7774C76-BEB4-4CCC-BF39-6FDDDA3EDBCC}" destId="{58FEE99E-A261-4F3C-A5FA-C699EBEB0D41}" srcOrd="0" destOrd="1" presId="urn:microsoft.com/office/officeart/2005/8/layout/process1"/>
    <dgm:cxn modelId="{84FE3632-06D7-48E0-9C50-7B9DE8998705}" type="presOf" srcId="{7B6DDB4F-77BE-4F0F-BC94-0BFA3A814525}" destId="{6A8B4873-4A9F-45D3-AC8F-F9C98F4F4628}" srcOrd="0" destOrd="0" presId="urn:microsoft.com/office/officeart/2005/8/layout/process1"/>
    <dgm:cxn modelId="{224F3035-C1FD-4E26-A69E-C4B5626F7621}" srcId="{9A0CAC48-5E57-44BA-8FC5-EED72EA9640C}" destId="{332D60CB-8B62-41C3-9CBB-A0EF162A4C5C}" srcOrd="3" destOrd="0" parTransId="{4456CAE6-6A9F-418F-B317-C798875BAF1B}" sibTransId="{7B6DDB4F-77BE-4F0F-BC94-0BFA3A814525}"/>
    <dgm:cxn modelId="{6EC37737-BD6A-432F-9917-1DDFBCF3A8DE}" type="presOf" srcId="{12D09C5B-9017-4D57-8267-25E806DEE923}" destId="{A1882395-FAD3-4778-8371-816D4DC7F485}" srcOrd="0" destOrd="3" presId="urn:microsoft.com/office/officeart/2005/8/layout/process1"/>
    <dgm:cxn modelId="{51AFB339-7B42-4AF9-9A83-4C7F011C23E5}" srcId="{9A0CAC48-5E57-44BA-8FC5-EED72EA9640C}" destId="{81F44346-BFF4-43B9-9D6F-DFBE68CF8B22}" srcOrd="4" destOrd="0" parTransId="{C99F15F2-DC2D-47B3-9531-147097060B25}" sibTransId="{B906E8B3-1E65-47AE-A872-FE4CCE0A77EA}"/>
    <dgm:cxn modelId="{61A4BD3A-8C90-4A0A-B363-55A79552485C}" type="presOf" srcId="{BA0B90A4-6324-4BE2-9760-F66E367D6182}" destId="{A663C0ED-D802-43C0-A6B0-7A0277DB66B5}" srcOrd="0" destOrd="1" presId="urn:microsoft.com/office/officeart/2005/8/layout/process1"/>
    <dgm:cxn modelId="{83BA085B-D260-437C-A7B8-40989C7F3FD1}" type="presOf" srcId="{2F3BB442-E409-44C5-99B9-E82E427CF6AD}" destId="{4C66FB0D-1BAD-4EE4-8A26-51A47372D0D6}" srcOrd="1" destOrd="0" presId="urn:microsoft.com/office/officeart/2005/8/layout/process1"/>
    <dgm:cxn modelId="{1143DD5B-23CF-4273-8DC9-E970EBF10B91}" srcId="{9A0CAC48-5E57-44BA-8FC5-EED72EA9640C}" destId="{C0CCC7D1-7E45-49BB-9D95-13A8FE501FFD}" srcOrd="1" destOrd="0" parTransId="{1D1501A3-7B3B-44F8-8FE6-1A4D40F71796}" sibTransId="{9218C575-E9A8-463F-A9E7-5A014BB84580}"/>
    <dgm:cxn modelId="{F957D261-50B7-4F03-9FEA-7B5DF0AFBD61}" type="presOf" srcId="{C37F04AF-E5BC-4E3A-A91C-00F69830A0ED}" destId="{58FEE99E-A261-4F3C-A5FA-C699EBEB0D41}" srcOrd="0" destOrd="2" presId="urn:microsoft.com/office/officeart/2005/8/layout/process1"/>
    <dgm:cxn modelId="{6735B845-E9DF-44F2-A4A8-FA6263D33CB4}" srcId="{C0CCC7D1-7E45-49BB-9D95-13A8FE501FFD}" destId="{0A39437C-D1D9-4EFF-A137-1CD066536FDD}" srcOrd="0" destOrd="0" parTransId="{3A4CBD63-A7E2-4A3B-ABE5-CFF52A10857E}" sibTransId="{9904C336-069F-4846-AF6A-CDF726C524D7}"/>
    <dgm:cxn modelId="{2202A266-F48B-4582-A962-169EE8E4E8C9}" type="presOf" srcId="{C0CCC7D1-7E45-49BB-9D95-13A8FE501FFD}" destId="{81134C2B-2646-48EF-A00A-E9EC6681F6BF}" srcOrd="0" destOrd="0" presId="urn:microsoft.com/office/officeart/2005/8/layout/process1"/>
    <dgm:cxn modelId="{BED6ED46-DBD5-41A8-A4AB-831529F2F7AE}" type="presOf" srcId="{9B50A51E-4CEB-4F44-B069-92E8E78796FF}" destId="{4DB7EFA9-DAC5-4942-8C91-1C2E34B51887}" srcOrd="0" destOrd="0" presId="urn:microsoft.com/office/officeart/2005/8/layout/process1"/>
    <dgm:cxn modelId="{1467B869-7D68-4E17-8BC6-98BDEACCAFD7}" type="presOf" srcId="{9B50A51E-4CEB-4F44-B069-92E8E78796FF}" destId="{B23DE686-8910-4754-B722-FF6774A98882}" srcOrd="1" destOrd="0" presId="urn:microsoft.com/office/officeart/2005/8/layout/process1"/>
    <dgm:cxn modelId="{73DAA86C-EB8B-4FB0-A1E4-656176DCEA21}" type="presOf" srcId="{67CF53FB-70B3-4F51-93DB-940D97B93AC4}" destId="{539ED901-6CD9-4B7A-8F1E-AA5BEDBA85DE}" srcOrd="0" destOrd="1" presId="urn:microsoft.com/office/officeart/2005/8/layout/process1"/>
    <dgm:cxn modelId="{83CA1D6E-E0C0-4809-B0EC-02FEB222F31D}" type="presOf" srcId="{431103CC-4457-4B46-878A-96032579AB6C}" destId="{A1882395-FAD3-4778-8371-816D4DC7F485}" srcOrd="0" destOrd="1" presId="urn:microsoft.com/office/officeart/2005/8/layout/process1"/>
    <dgm:cxn modelId="{4B35FE71-9F2E-42E9-A370-A82F81FE878C}" type="presOf" srcId="{F2BC866A-2759-4594-993A-981394CFEADC}" destId="{A1882395-FAD3-4778-8371-816D4DC7F485}" srcOrd="0" destOrd="0" presId="urn:microsoft.com/office/officeart/2005/8/layout/process1"/>
    <dgm:cxn modelId="{8469BD52-43E3-4AC1-A1CD-7B3ECF57E79B}" type="presOf" srcId="{7B6DDB4F-77BE-4F0F-BC94-0BFA3A814525}" destId="{629526C1-FD30-4177-8701-BF431C8D2626}" srcOrd="1" destOrd="0" presId="urn:microsoft.com/office/officeart/2005/8/layout/process1"/>
    <dgm:cxn modelId="{09D75479-4240-449B-B655-E56C9648B9E1}" srcId="{F2BC866A-2759-4594-993A-981394CFEADC}" destId="{12D09C5B-9017-4D57-8267-25E806DEE923}" srcOrd="2" destOrd="0" parTransId="{AEAE2196-4D02-4C25-AC7A-3448F692474E}" sibTransId="{2D8A8F79-E614-4A57-9004-278FC1F35197}"/>
    <dgm:cxn modelId="{1A294987-F4B1-45DC-B78C-D37DCD4774D2}" type="presOf" srcId="{9218C575-E9A8-463F-A9E7-5A014BB84580}" destId="{3E6CAA20-7B0F-4E1E-B7ED-530A25DDADEE}" srcOrd="0" destOrd="0" presId="urn:microsoft.com/office/officeart/2005/8/layout/process1"/>
    <dgm:cxn modelId="{7D36CC8F-E13E-40E4-8839-5BC10087382A}" srcId="{332D60CB-8B62-41C3-9CBB-A0EF162A4C5C}" destId="{67CF53FB-70B3-4F51-93DB-940D97B93AC4}" srcOrd="0" destOrd="0" parTransId="{AE10DDDF-7B1F-4E3C-A9E2-C04C0816F1E7}" sibTransId="{3C2A93AD-EC70-4C90-8573-3E6337C732A1}"/>
    <dgm:cxn modelId="{3C4C1F9C-00D1-4D03-8AF7-0A43C3B0804D}" type="presOf" srcId="{2F3BB442-E409-44C5-99B9-E82E427CF6AD}" destId="{CD5CA2A1-A4C4-4354-8E85-1B10959430FB}" srcOrd="0" destOrd="0" presId="urn:microsoft.com/office/officeart/2005/8/layout/process1"/>
    <dgm:cxn modelId="{58A205A5-309E-46C6-8320-175265839601}" type="presOf" srcId="{81F44346-BFF4-43B9-9D6F-DFBE68CF8B22}" destId="{A663C0ED-D802-43C0-A6B0-7A0277DB66B5}" srcOrd="0" destOrd="0" presId="urn:microsoft.com/office/officeart/2005/8/layout/process1"/>
    <dgm:cxn modelId="{631CD8A7-8C13-4F32-AF41-859639231E5E}" srcId="{F2BC866A-2759-4594-993A-981394CFEADC}" destId="{431103CC-4457-4B46-878A-96032579AB6C}" srcOrd="0" destOrd="0" parTransId="{AA1EC59A-4215-4287-9210-9B4171D28673}" sibTransId="{F40D91B5-8B8E-43CA-9829-7A5B51800067}"/>
    <dgm:cxn modelId="{70EF3CAE-0D9C-48A3-AECC-DEEA82746F6F}" type="presOf" srcId="{1452E502-C5C0-4068-9ABD-78A3C6CFB521}" destId="{A663C0ED-D802-43C0-A6B0-7A0277DB66B5}" srcOrd="0" destOrd="2" presId="urn:microsoft.com/office/officeart/2005/8/layout/process1"/>
    <dgm:cxn modelId="{760D41BA-0C48-4248-BA49-4955840593F9}" type="presOf" srcId="{F78D556A-9A9B-4E4F-A26E-6AB43C463830}" destId="{81134C2B-2646-48EF-A00A-E9EC6681F6BF}" srcOrd="0" destOrd="2" presId="urn:microsoft.com/office/officeart/2005/8/layout/process1"/>
    <dgm:cxn modelId="{BEF40CBC-279C-4ED5-ACB1-B40E84DFF00C}" type="presOf" srcId="{0A39437C-D1D9-4EFF-A137-1CD066536FDD}" destId="{81134C2B-2646-48EF-A00A-E9EC6681F6BF}" srcOrd="0" destOrd="1" presId="urn:microsoft.com/office/officeart/2005/8/layout/process1"/>
    <dgm:cxn modelId="{A05BB9C0-B316-4087-99C0-9FE2D752DB70}" srcId="{C0CCC7D1-7E45-49BB-9D95-13A8FE501FFD}" destId="{F78D556A-9A9B-4E4F-A26E-6AB43C463830}" srcOrd="1" destOrd="0" parTransId="{A668E9C2-EC01-41C2-B2DC-6F85A2242789}" sibTransId="{F38984EF-52F4-4F1B-A27A-F0F8E38C774E}"/>
    <dgm:cxn modelId="{F186B8C2-F8DC-4AD1-81AC-3B0D487FB308}" srcId="{9A0CAC48-5E57-44BA-8FC5-EED72EA9640C}" destId="{C68A7E83-AFBA-4AE5-B8AE-746A89C2D484}" srcOrd="2" destOrd="0" parTransId="{70BAE47C-A2A6-4AC4-9D2A-C89547A49C7B}" sibTransId="{2F3BB442-E409-44C5-99B9-E82E427CF6AD}"/>
    <dgm:cxn modelId="{7841D2CB-DD57-42B1-BB82-8153CE5EC304}" type="presOf" srcId="{9218C575-E9A8-463F-A9E7-5A014BB84580}" destId="{E16D40D6-0F3F-4936-96F2-D3857D581F1A}" srcOrd="1" destOrd="0" presId="urn:microsoft.com/office/officeart/2005/8/layout/process1"/>
    <dgm:cxn modelId="{387216D2-E19A-442E-A3ED-64114D8DAC06}" type="presOf" srcId="{C68A7E83-AFBA-4AE5-B8AE-746A89C2D484}" destId="{58FEE99E-A261-4F3C-A5FA-C699EBEB0D41}" srcOrd="0" destOrd="0" presId="urn:microsoft.com/office/officeart/2005/8/layout/process1"/>
    <dgm:cxn modelId="{305B01D6-9F38-4BE0-AD3D-BA07AB393911}" srcId="{C68A7E83-AFBA-4AE5-B8AE-746A89C2D484}" destId="{D7774C76-BEB4-4CCC-BF39-6FDDDA3EDBCC}" srcOrd="0" destOrd="0" parTransId="{25DA1DCF-0E5C-43A4-B40E-96700FDAA048}" sibTransId="{A905B939-3650-4E5F-B17A-3752422D4512}"/>
    <dgm:cxn modelId="{46A83DE0-E9A8-47CC-8359-54EC4D9EB0DE}" type="presOf" srcId="{ED1CAD06-741A-4FB7-8B4D-F715CE773948}" destId="{A1882395-FAD3-4778-8371-816D4DC7F485}" srcOrd="0" destOrd="2" presId="urn:microsoft.com/office/officeart/2005/8/layout/process1"/>
    <dgm:cxn modelId="{6FF074E1-EC6F-4C03-8CAC-8B7D11B1A44C}" srcId="{81F44346-BFF4-43B9-9D6F-DFBE68CF8B22}" destId="{BA0B90A4-6324-4BE2-9760-F66E367D6182}" srcOrd="0" destOrd="0" parTransId="{BDC06C40-07BC-4B25-A73C-DF4A8F2340B7}" sibTransId="{C2A3EF5C-665C-41D4-8AD7-B9CE95821362}"/>
    <dgm:cxn modelId="{1A331FE4-BEC0-4A6D-8B26-D3C5B61E1EEC}" srcId="{332D60CB-8B62-41C3-9CBB-A0EF162A4C5C}" destId="{B0EB1111-472D-4FB3-AC1B-FDAC6643ED46}" srcOrd="1" destOrd="0" parTransId="{C3B68A3B-EDF6-4E1B-874C-A4E17663BEB8}" sibTransId="{6419A9D7-6F3A-49FF-87D9-1775520395E0}"/>
    <dgm:cxn modelId="{85C124EF-4849-4F0A-887A-1D57931E4CB7}" srcId="{C68A7E83-AFBA-4AE5-B8AE-746A89C2D484}" destId="{C37F04AF-E5BC-4E3A-A91C-00F69830A0ED}" srcOrd="1" destOrd="0" parTransId="{6A063E15-22ED-4ED6-A2AF-AAF6EA45F6A5}" sibTransId="{2669A6D6-2150-4EA2-B4A9-94A9AE224CC9}"/>
    <dgm:cxn modelId="{043488F6-2E51-4A97-8FA0-57E7E45C0AC5}" type="presOf" srcId="{332D60CB-8B62-41C3-9CBB-A0EF162A4C5C}" destId="{539ED901-6CD9-4B7A-8F1E-AA5BEDBA85DE}" srcOrd="0" destOrd="0" presId="urn:microsoft.com/office/officeart/2005/8/layout/process1"/>
    <dgm:cxn modelId="{8FD7CAF7-8BE3-46A1-8823-2E485010E27B}" srcId="{81F44346-BFF4-43B9-9D6F-DFBE68CF8B22}" destId="{1452E502-C5C0-4068-9ABD-78A3C6CFB521}" srcOrd="1" destOrd="0" parTransId="{9C22858C-6B1E-4DAF-9654-BA70777BFE94}" sibTransId="{DBA386A2-B26D-4A99-A293-614108A9E344}"/>
    <dgm:cxn modelId="{EE661E67-992B-47FF-B064-634E20ED5609}" type="presParOf" srcId="{39FF3A42-46D4-4F0F-9AA4-9188744EDAB0}" destId="{A1882395-FAD3-4778-8371-816D4DC7F485}" srcOrd="0" destOrd="0" presId="urn:microsoft.com/office/officeart/2005/8/layout/process1"/>
    <dgm:cxn modelId="{DB9328AA-5F5A-4300-B5E4-13A309017AD9}" type="presParOf" srcId="{39FF3A42-46D4-4F0F-9AA4-9188744EDAB0}" destId="{4DB7EFA9-DAC5-4942-8C91-1C2E34B51887}" srcOrd="1" destOrd="0" presId="urn:microsoft.com/office/officeart/2005/8/layout/process1"/>
    <dgm:cxn modelId="{EBED89E6-B3A5-4D64-A320-A142FA828879}" type="presParOf" srcId="{4DB7EFA9-DAC5-4942-8C91-1C2E34B51887}" destId="{B23DE686-8910-4754-B722-FF6774A98882}" srcOrd="0" destOrd="0" presId="urn:microsoft.com/office/officeart/2005/8/layout/process1"/>
    <dgm:cxn modelId="{0C3D11B0-F114-47ED-8F73-CAE0AF07EE19}" type="presParOf" srcId="{39FF3A42-46D4-4F0F-9AA4-9188744EDAB0}" destId="{81134C2B-2646-48EF-A00A-E9EC6681F6BF}" srcOrd="2" destOrd="0" presId="urn:microsoft.com/office/officeart/2005/8/layout/process1"/>
    <dgm:cxn modelId="{B38A3AAC-B5D6-4204-A540-5A036EA6BD5F}" type="presParOf" srcId="{39FF3A42-46D4-4F0F-9AA4-9188744EDAB0}" destId="{3E6CAA20-7B0F-4E1E-B7ED-530A25DDADEE}" srcOrd="3" destOrd="0" presId="urn:microsoft.com/office/officeart/2005/8/layout/process1"/>
    <dgm:cxn modelId="{1DEC704E-77EE-4332-B13D-6F0926B9270A}" type="presParOf" srcId="{3E6CAA20-7B0F-4E1E-B7ED-530A25DDADEE}" destId="{E16D40D6-0F3F-4936-96F2-D3857D581F1A}" srcOrd="0" destOrd="0" presId="urn:microsoft.com/office/officeart/2005/8/layout/process1"/>
    <dgm:cxn modelId="{0E465B14-A868-467F-BF5B-7A666C7E1A61}" type="presParOf" srcId="{39FF3A42-46D4-4F0F-9AA4-9188744EDAB0}" destId="{58FEE99E-A261-4F3C-A5FA-C699EBEB0D41}" srcOrd="4" destOrd="0" presId="urn:microsoft.com/office/officeart/2005/8/layout/process1"/>
    <dgm:cxn modelId="{1E79ECA1-2ACB-4388-A470-7D02E5A7E659}" type="presParOf" srcId="{39FF3A42-46D4-4F0F-9AA4-9188744EDAB0}" destId="{CD5CA2A1-A4C4-4354-8E85-1B10959430FB}" srcOrd="5" destOrd="0" presId="urn:microsoft.com/office/officeart/2005/8/layout/process1"/>
    <dgm:cxn modelId="{5E0360F5-100C-4B78-910A-932803DE20D2}" type="presParOf" srcId="{CD5CA2A1-A4C4-4354-8E85-1B10959430FB}" destId="{4C66FB0D-1BAD-4EE4-8A26-51A47372D0D6}" srcOrd="0" destOrd="0" presId="urn:microsoft.com/office/officeart/2005/8/layout/process1"/>
    <dgm:cxn modelId="{489F1CD1-DAF0-4678-9C18-0AF2408D344A}" type="presParOf" srcId="{39FF3A42-46D4-4F0F-9AA4-9188744EDAB0}" destId="{539ED901-6CD9-4B7A-8F1E-AA5BEDBA85DE}" srcOrd="6" destOrd="0" presId="urn:microsoft.com/office/officeart/2005/8/layout/process1"/>
    <dgm:cxn modelId="{17BCE1FD-FD38-4C4B-9F72-9FC507F14E9E}" type="presParOf" srcId="{39FF3A42-46D4-4F0F-9AA4-9188744EDAB0}" destId="{6A8B4873-4A9F-45D3-AC8F-F9C98F4F4628}" srcOrd="7" destOrd="0" presId="urn:microsoft.com/office/officeart/2005/8/layout/process1"/>
    <dgm:cxn modelId="{9E0AE8FB-48EE-4483-A55E-6AA4324F0A00}" type="presParOf" srcId="{6A8B4873-4A9F-45D3-AC8F-F9C98F4F4628}" destId="{629526C1-FD30-4177-8701-BF431C8D2626}" srcOrd="0" destOrd="0" presId="urn:microsoft.com/office/officeart/2005/8/layout/process1"/>
    <dgm:cxn modelId="{EEF3418C-9273-4855-81B7-057F8FC52ACD}" type="presParOf" srcId="{39FF3A42-46D4-4F0F-9AA4-9188744EDAB0}" destId="{A663C0ED-D802-43C0-A6B0-7A0277DB66B5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882395-FAD3-4778-8371-816D4DC7F485}">
      <dsp:nvSpPr>
        <dsp:cNvPr id="0" name=""/>
        <dsp:cNvSpPr/>
      </dsp:nvSpPr>
      <dsp:spPr>
        <a:xfrm>
          <a:off x="5219" y="915953"/>
          <a:ext cx="1618080" cy="29505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bg1"/>
              </a:solidFill>
              <a:latin typeface="Aptos Display" panose="020F0302020204030204"/>
            </a:rPr>
            <a:t>Financial Model </a:t>
          </a:r>
          <a:br>
            <a:rPr lang="en-US" sz="1800" kern="1200">
              <a:solidFill>
                <a:schemeClr val="bg1"/>
              </a:solidFill>
              <a:latin typeface="Aptos Display" panose="020F0302020204030204"/>
            </a:rPr>
          </a:br>
          <a:endParaRPr lang="en-US" sz="1800" kern="1200">
            <a:solidFill>
              <a:schemeClr val="bg1"/>
            </a:solidFill>
            <a:latin typeface="Aptos Display" panose="020F0302020204030204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solidFill>
                <a:schemeClr val="bg1"/>
              </a:solidFill>
            </a:rPr>
            <a:t>Adjacency matrix</a:t>
          </a:r>
          <a:endParaRPr lang="en-US" sz="1600" kern="1200">
            <a:solidFill>
              <a:schemeClr val="bg1"/>
            </a:solidFill>
            <a:latin typeface="Aptos Display" panose="020F0302020204030204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solidFill>
                <a:schemeClr val="bg1"/>
              </a:solidFill>
              <a:latin typeface="Aptos Display"/>
              <a:ea typeface="Calibri"/>
              <a:cs typeface="Calibri"/>
            </a:rPr>
            <a:t>Normalized Laplacian</a:t>
          </a:r>
          <a:endParaRPr lang="en-US" sz="1600" kern="1200">
            <a:solidFill>
              <a:schemeClr val="bg1"/>
            </a:solidFill>
            <a:latin typeface="Aptos Display" panose="020F0302020204030204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solidFill>
                <a:schemeClr val="bg1"/>
              </a:solidFill>
            </a:rPr>
            <a:t>Linear system</a:t>
          </a:r>
          <a:br>
            <a:rPr lang="en-US" sz="1600" kern="1200">
              <a:solidFill>
                <a:schemeClr val="bg1"/>
              </a:solidFill>
              <a:latin typeface="Aptos Display" panose="020F0302020204030204"/>
            </a:rPr>
          </a:br>
          <a:endParaRPr lang="en-US" sz="1600" kern="1200">
            <a:solidFill>
              <a:schemeClr val="bg1"/>
            </a:solidFill>
          </a:endParaRPr>
        </a:p>
      </dsp:txBody>
      <dsp:txXfrm>
        <a:off x="52611" y="963345"/>
        <a:ext cx="1523296" cy="2855765"/>
      </dsp:txXfrm>
    </dsp:sp>
    <dsp:sp modelId="{4DB7EFA9-DAC5-4942-8C91-1C2E34B51887}">
      <dsp:nvSpPr>
        <dsp:cNvPr id="0" name=""/>
        <dsp:cNvSpPr/>
      </dsp:nvSpPr>
      <dsp:spPr>
        <a:xfrm>
          <a:off x="1785108" y="2190586"/>
          <a:ext cx="343033" cy="4012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785108" y="2270843"/>
        <a:ext cx="240123" cy="240769"/>
      </dsp:txXfrm>
    </dsp:sp>
    <dsp:sp modelId="{81134C2B-2646-48EF-A00A-E9EC6681F6BF}">
      <dsp:nvSpPr>
        <dsp:cNvPr id="0" name=""/>
        <dsp:cNvSpPr/>
      </dsp:nvSpPr>
      <dsp:spPr>
        <a:xfrm>
          <a:off x="2270532" y="915953"/>
          <a:ext cx="1618080" cy="29505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ptos Display"/>
              <a:ea typeface="Calibri"/>
              <a:cs typeface="Calibri"/>
            </a:rPr>
            <a:t>Prepare |b&gt; </a:t>
          </a:r>
          <a:br>
            <a:rPr lang="en-US" sz="1800" kern="1200">
              <a:latin typeface="Aptos Display"/>
              <a:ea typeface="Calibri"/>
              <a:cs typeface="Calibri"/>
            </a:rPr>
          </a:br>
          <a:br>
            <a:rPr lang="en-US" sz="1800" kern="1200">
              <a:latin typeface="Aptos Display"/>
              <a:ea typeface="Calibri"/>
              <a:cs typeface="Calibri"/>
            </a:rPr>
          </a:br>
          <a:r>
            <a:rPr lang="en-US" sz="1800" kern="1200">
              <a:latin typeface="Aptos Display"/>
              <a:ea typeface="Calibri"/>
              <a:cs typeface="Calibri"/>
            </a:rPr>
            <a:t>(Sparse State Preparation)</a:t>
          </a:r>
          <a:br>
            <a:rPr lang="en-US" sz="1800" kern="1200">
              <a:latin typeface="Aptos Display"/>
              <a:ea typeface="Calibri"/>
              <a:cs typeface="Calibri"/>
            </a:rPr>
          </a:br>
          <a:br>
            <a:rPr lang="en-US" sz="1800" kern="1200">
              <a:latin typeface="Aptos Display"/>
              <a:ea typeface="Calibri"/>
              <a:cs typeface="Calibri"/>
            </a:rPr>
          </a:br>
          <a:r>
            <a:rPr lang="en-US" sz="1800" kern="1200">
              <a:latin typeface="Aptos Display"/>
              <a:ea typeface="Calibri"/>
              <a:cs typeface="Calibri"/>
            </a:rPr>
            <a:t>2 methods</a:t>
          </a:r>
          <a:endParaRPr lang="en-US" sz="1800" kern="1200">
            <a:solidFill>
              <a:srgbClr val="000000"/>
            </a:solidFill>
            <a:latin typeface="Aptos Display"/>
            <a:ea typeface="Calibri"/>
            <a:cs typeface="Calibri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err="1">
              <a:latin typeface="Aptos Display"/>
              <a:ea typeface="Calibri"/>
              <a:cs typeface="Calibri"/>
            </a:rPr>
            <a:t>Gleinig</a:t>
          </a:r>
          <a:r>
            <a:rPr lang="en-US" sz="1400" kern="1200">
              <a:latin typeface="Aptos Display"/>
              <a:ea typeface="Calibri"/>
              <a:cs typeface="Calibri"/>
            </a:rPr>
            <a:t>-Hoefler</a:t>
          </a:r>
          <a:endParaRPr lang="en-US" sz="1400" kern="1200">
            <a:solidFill>
              <a:srgbClr val="000000"/>
            </a:solidFill>
            <a:latin typeface="Aptos Display"/>
            <a:ea typeface="Calibri"/>
            <a:cs typeface="Calibri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latin typeface="Aptos Display" panose="020F0302020204030204"/>
              <a:ea typeface="Calibri"/>
              <a:cs typeface="Calibri"/>
            </a:rPr>
            <a:t>Shukla-Vedula</a:t>
          </a:r>
          <a:r>
            <a:rPr lang="en-US" sz="1400" kern="1200">
              <a:solidFill>
                <a:srgbClr val="000000"/>
              </a:solidFill>
              <a:latin typeface="Aptos Display" panose="020F0302020204030204"/>
              <a:ea typeface="Calibri"/>
              <a:cs typeface="Calibri"/>
            </a:rPr>
            <a:t> </a:t>
          </a:r>
          <a:r>
            <a:rPr lang="en-US" sz="1400" kern="1200">
              <a:latin typeface="Aptos Display" panose="020F0302020204030204"/>
              <a:ea typeface="Calibri"/>
              <a:cs typeface="Calibri"/>
            </a:rPr>
            <a:t>variant</a:t>
          </a:r>
          <a:br>
            <a:rPr lang="en-US" sz="1400" kern="1200">
              <a:ea typeface="Calibri"/>
              <a:cs typeface="Calibri"/>
            </a:rPr>
          </a:br>
          <a:endParaRPr lang="en-US" kern="1200"/>
        </a:p>
      </dsp:txBody>
      <dsp:txXfrm>
        <a:off x="2317924" y="963345"/>
        <a:ext cx="1523296" cy="2855765"/>
      </dsp:txXfrm>
    </dsp:sp>
    <dsp:sp modelId="{3E6CAA20-7B0F-4E1E-B7ED-530A25DDADEE}">
      <dsp:nvSpPr>
        <dsp:cNvPr id="0" name=""/>
        <dsp:cNvSpPr/>
      </dsp:nvSpPr>
      <dsp:spPr>
        <a:xfrm>
          <a:off x="4050420" y="2190586"/>
          <a:ext cx="343033" cy="4012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050420" y="2270843"/>
        <a:ext cx="240123" cy="240769"/>
      </dsp:txXfrm>
    </dsp:sp>
    <dsp:sp modelId="{58FEE99E-A261-4F3C-A5FA-C699EBEB0D41}">
      <dsp:nvSpPr>
        <dsp:cNvPr id="0" name=""/>
        <dsp:cNvSpPr/>
      </dsp:nvSpPr>
      <dsp:spPr>
        <a:xfrm>
          <a:off x="4535844" y="915953"/>
          <a:ext cx="1618080" cy="29505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ptos Display" panose="020F0302020204030204"/>
            </a:rPr>
            <a:t>Represent A </a:t>
          </a:r>
          <a:br>
            <a:rPr lang="en-US" sz="1800" kern="1200">
              <a:solidFill>
                <a:srgbClr val="000000"/>
              </a:solidFill>
              <a:latin typeface="Aptos Display" panose="020F0302020204030204"/>
            </a:rPr>
          </a:br>
          <a:endParaRPr lang="en-US" sz="1800" kern="1200">
            <a:solidFill>
              <a:srgbClr val="000000"/>
            </a:solidFill>
            <a:latin typeface="Aptos Display" panose="020F0302020204030204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Aptos Display" panose="020F0302020204030204"/>
            </a:rPr>
            <a:t>Hamiltonian Simulation</a:t>
          </a:r>
          <a:br>
            <a:rPr lang="en-US" sz="1600" kern="1200">
              <a:latin typeface="Aptos Display" panose="020F0302020204030204"/>
            </a:rPr>
          </a:br>
          <a:r>
            <a:rPr lang="en-US" sz="1600" kern="1200">
              <a:latin typeface="Aptos Display" panose="020F0302020204030204"/>
            </a:rPr>
            <a:t>(</a:t>
          </a:r>
          <a:r>
            <a:rPr lang="en-US" sz="1600" kern="1200" err="1">
              <a:latin typeface="Aptos Display" panose="020F0302020204030204"/>
            </a:rPr>
            <a:t>Trotterization</a:t>
          </a:r>
          <a:r>
            <a:rPr lang="en-US" sz="1600" kern="1200">
              <a:latin typeface="Aptos Display" panose="020F0302020204030204"/>
            </a:rPr>
            <a:t>)</a:t>
          </a:r>
          <a:br>
            <a:rPr lang="en-US" kern="1200"/>
          </a:br>
          <a:endParaRPr lang="en-US" sz="1600" kern="1200">
            <a:latin typeface="Aptos Display" panose="020F0302020204030204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Aptos Display" panose="020F0302020204030204"/>
            </a:rPr>
            <a:t>Block Encoding</a:t>
          </a:r>
          <a:br>
            <a:rPr lang="en-US" sz="1600" kern="1200">
              <a:solidFill>
                <a:srgbClr val="000000"/>
              </a:solidFill>
              <a:latin typeface="Aptos Display" panose="020F0302020204030204"/>
            </a:rPr>
          </a:br>
          <a:r>
            <a:rPr lang="en-US" sz="1600" kern="1200">
              <a:latin typeface="Aptos Display" panose="020F0302020204030204"/>
            </a:rPr>
            <a:t>(Berry-Childs, LCU)</a:t>
          </a:r>
          <a:br>
            <a:rPr lang="en-US" sz="1600" kern="1200">
              <a:latin typeface="Aptos Display" panose="020F0302020204030204"/>
            </a:rPr>
          </a:br>
          <a:endParaRPr lang="en-US" sz="1600" kern="1200"/>
        </a:p>
      </dsp:txBody>
      <dsp:txXfrm>
        <a:off x="4583236" y="963345"/>
        <a:ext cx="1523296" cy="2855765"/>
      </dsp:txXfrm>
    </dsp:sp>
    <dsp:sp modelId="{CD5CA2A1-A4C4-4354-8E85-1B10959430FB}">
      <dsp:nvSpPr>
        <dsp:cNvPr id="0" name=""/>
        <dsp:cNvSpPr/>
      </dsp:nvSpPr>
      <dsp:spPr>
        <a:xfrm>
          <a:off x="6315733" y="2190586"/>
          <a:ext cx="343033" cy="4012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315733" y="2270843"/>
        <a:ext cx="240123" cy="240769"/>
      </dsp:txXfrm>
    </dsp:sp>
    <dsp:sp modelId="{539ED901-6CD9-4B7A-8F1E-AA5BEDBA85DE}">
      <dsp:nvSpPr>
        <dsp:cNvPr id="0" name=""/>
        <dsp:cNvSpPr/>
      </dsp:nvSpPr>
      <dsp:spPr>
        <a:xfrm>
          <a:off x="6801157" y="915953"/>
          <a:ext cx="1618080" cy="29505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ptos Display" panose="020F0302020204030204"/>
            </a:rPr>
            <a:t>Invert Eigenvalues </a:t>
          </a:r>
          <a:endParaRPr lang="en-US" sz="1800" kern="1200">
            <a:solidFill>
              <a:srgbClr val="000000"/>
            </a:solidFill>
            <a:latin typeface="Aptos Display" panose="020F0302020204030204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latin typeface="Aptos Display" panose="020F0302020204030204"/>
            </a:rPr>
            <a:t>Polynomial Approximation</a:t>
          </a:r>
          <a:br>
            <a:rPr lang="en-US" sz="1400" kern="1200">
              <a:latin typeface="Aptos Display" panose="020F0302020204030204"/>
            </a:rPr>
          </a:br>
          <a:endParaRPr lang="en-US" sz="1400" kern="1200">
            <a:latin typeface="Aptos Display" panose="020F0302020204030204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latin typeface="Aptos Display" panose="020F0302020204030204"/>
            </a:rPr>
            <a:t> QPE-Based </a:t>
          </a:r>
          <a:br>
            <a:rPr lang="en-US" sz="1400" kern="1200">
              <a:latin typeface="Aptos Display" panose="020F0302020204030204"/>
            </a:rPr>
          </a:br>
          <a:r>
            <a:rPr lang="en-US" sz="1400" kern="1200">
              <a:latin typeface="Aptos Display" panose="020F0302020204030204"/>
            </a:rPr>
            <a:t>(Traditional HHL,</a:t>
          </a:r>
          <a:br>
            <a:rPr lang="en-US" sz="1400" kern="1200">
              <a:latin typeface="Aptos Display" panose="020F0302020204030204"/>
            </a:rPr>
          </a:br>
          <a:r>
            <a:rPr lang="en-US" sz="1400" kern="1200">
              <a:latin typeface="Aptos Display" panose="020F0302020204030204"/>
            </a:rPr>
            <a:t>Berry-Childs HHL – 2 variants) </a:t>
          </a:r>
          <a:br>
            <a:rPr lang="en-US" sz="1400" kern="1200">
              <a:solidFill>
                <a:srgbClr val="000000"/>
              </a:solidFill>
              <a:latin typeface="Aptos Display" panose="020F0302020204030204"/>
            </a:rPr>
          </a:br>
          <a:br>
            <a:rPr lang="en-US" sz="1400" kern="1200">
              <a:latin typeface="Aptos Display" panose="020F0302020204030204"/>
            </a:rPr>
          </a:br>
          <a:r>
            <a:rPr lang="en-US" sz="1400" kern="1200">
              <a:latin typeface="Aptos Display" panose="020F0302020204030204"/>
            </a:rPr>
            <a:t>QSVT-Based</a:t>
          </a:r>
          <a:br>
            <a:rPr lang="en-US" sz="1400" kern="1200">
              <a:latin typeface="Aptos Display" panose="020F0302020204030204"/>
            </a:rPr>
          </a:br>
          <a:endParaRPr lang="en-US" sz="1400" kern="1200">
            <a:solidFill>
              <a:schemeClr val="bg1"/>
            </a:solidFill>
            <a:latin typeface="Aptos Display" panose="020F0302020204030204"/>
          </a:endParaRPr>
        </a:p>
      </dsp:txBody>
      <dsp:txXfrm>
        <a:off x="6848549" y="963345"/>
        <a:ext cx="1523296" cy="2855765"/>
      </dsp:txXfrm>
    </dsp:sp>
    <dsp:sp modelId="{6A8B4873-4A9F-45D3-AC8F-F9C98F4F4628}">
      <dsp:nvSpPr>
        <dsp:cNvPr id="0" name=""/>
        <dsp:cNvSpPr/>
      </dsp:nvSpPr>
      <dsp:spPr>
        <a:xfrm>
          <a:off x="8581045" y="2190586"/>
          <a:ext cx="343033" cy="4012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581045" y="2270843"/>
        <a:ext cx="240123" cy="240769"/>
      </dsp:txXfrm>
    </dsp:sp>
    <dsp:sp modelId="{A663C0ED-D802-43C0-A6B0-7A0277DB66B5}">
      <dsp:nvSpPr>
        <dsp:cNvPr id="0" name=""/>
        <dsp:cNvSpPr/>
      </dsp:nvSpPr>
      <dsp:spPr>
        <a:xfrm>
          <a:off x="9066469" y="915953"/>
          <a:ext cx="1618080" cy="29505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bg1"/>
              </a:solidFill>
              <a:latin typeface="Aptos Display" panose="020F0302020204030204"/>
            </a:rPr>
            <a:t>Readout</a:t>
          </a:r>
          <a:br>
            <a:rPr lang="en-US" sz="1800" kern="1200">
              <a:solidFill>
                <a:schemeClr val="bg1"/>
              </a:solidFill>
              <a:latin typeface="Aptos Display" panose="020F0302020204030204"/>
            </a:rPr>
          </a:br>
          <a:br>
            <a:rPr lang="en-US" sz="1800" kern="1200">
              <a:latin typeface="Aptos Display" panose="020F0302020204030204"/>
            </a:rPr>
          </a:br>
          <a:r>
            <a:rPr lang="en-US" sz="1600" kern="1200">
              <a:latin typeface="Aptos Display"/>
              <a:ea typeface="Calibri"/>
              <a:cs typeface="Calibri"/>
            </a:rPr>
            <a:t>(Measurement)</a:t>
          </a:r>
          <a:br>
            <a:rPr lang="en-US" sz="1600" kern="1200">
              <a:latin typeface="Aptos Display"/>
              <a:ea typeface="Calibri"/>
              <a:cs typeface="Calibri"/>
            </a:rPr>
          </a:br>
          <a:br>
            <a:rPr lang="en-US" sz="1600" kern="1200">
              <a:latin typeface="Aptos Display"/>
              <a:ea typeface="Calibri"/>
              <a:cs typeface="Calibri"/>
            </a:rPr>
          </a:br>
          <a:r>
            <a:rPr lang="en-US" sz="1600" kern="1200">
              <a:latin typeface="Aptos Display"/>
              <a:ea typeface="Calibri"/>
              <a:cs typeface="Calibri"/>
            </a:rPr>
            <a:t>2 use cases</a:t>
          </a:r>
          <a:r>
            <a:rPr lang="en-US" sz="1600" kern="1200">
              <a:solidFill>
                <a:schemeClr val="bg1"/>
              </a:solidFill>
              <a:latin typeface="Aptos Display" panose="020F0302020204030204"/>
            </a:rPr>
            <a:t> 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latin typeface="Aptos Display" panose="020F0302020204030204"/>
            </a:rPr>
            <a:t>Basis</a:t>
          </a:r>
          <a:r>
            <a:rPr lang="en-US" sz="1400" kern="1200">
              <a:solidFill>
                <a:schemeClr val="bg1"/>
              </a:solidFill>
              <a:latin typeface="Aptos Display" panose="020F0302020204030204"/>
            </a:rPr>
            <a:t> sampling (top k)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bg1"/>
              </a:solidFill>
              <a:latin typeface="Aptos Display" panose="020F0302020204030204"/>
            </a:rPr>
            <a:t>Observable estimation </a:t>
          </a:r>
          <a:br>
            <a:rPr lang="en-US" sz="1400" kern="1200">
              <a:solidFill>
                <a:schemeClr val="bg1"/>
              </a:solidFill>
              <a:latin typeface="Aptos Display" panose="020F0302020204030204"/>
            </a:rPr>
          </a:br>
          <a:r>
            <a:rPr lang="en-US" sz="1400" kern="1200">
              <a:solidFill>
                <a:schemeClr val="bg1"/>
              </a:solidFill>
              <a:latin typeface="Aptos Display" panose="020F0302020204030204"/>
            </a:rPr>
            <a:t>(single node risk)</a:t>
          </a:r>
          <a:br>
            <a:rPr lang="en-US" sz="1400" kern="1200">
              <a:solidFill>
                <a:schemeClr val="bg1"/>
              </a:solidFill>
              <a:latin typeface="Aptos Display" panose="020F0302020204030204"/>
            </a:rPr>
          </a:br>
          <a:br>
            <a:rPr lang="en-US" sz="1400" kern="1200">
              <a:solidFill>
                <a:schemeClr val="bg1"/>
              </a:solidFill>
              <a:latin typeface="Aptos Display" panose="020F0302020204030204"/>
            </a:rPr>
          </a:br>
          <a:endParaRPr lang="en-US" kern="1200"/>
        </a:p>
      </dsp:txBody>
      <dsp:txXfrm>
        <a:off x="9113861" y="963345"/>
        <a:ext cx="1523296" cy="28557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0ECF7-81C7-4F97-A4AE-D6BCDE32C143}" type="datetimeFigureOut">
              <a:t>7/7/2026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8CD8EF-ACE7-41B3-8A41-127A5393CDD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61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sz="1200" dirty="0">
                <a:solidFill>
                  <a:srgbClr val="1A1A1A"/>
                </a:solidFill>
                <a:latin typeface="+mn-lt"/>
                <a:ea typeface="Calibri"/>
                <a:cs typeface="Calibri"/>
              </a:rPr>
              <a:t>A block encoding hides A/α in the ancilla-|0⟩ corner of a larger unitary U_A. LCU is the constructive route: PREPARE loads amplitudes √(αⱼ/α), SELECT applies each Uⱼ, PREPARE† interferes the branches — post-selecting the ancilla on |0⟩ enacts A/α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5640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dirty="0">
                <a:solidFill>
                  <a:srgbClr val="1A1A1A"/>
                </a:solidFill>
                <a:latin typeface="+mn-lt"/>
                <a:ea typeface="Calibri"/>
                <a:cs typeface="Calibri"/>
              </a:rPr>
              <a:t>Two-term uniform LCU: ½(e^{+</a:t>
            </a:r>
            <a:r>
              <a:rPr lang="en-IN" sz="1200" dirty="0" err="1">
                <a:solidFill>
                  <a:srgbClr val="1A1A1A"/>
                </a:solidFill>
                <a:latin typeface="+mn-lt"/>
                <a:ea typeface="Calibri"/>
                <a:cs typeface="Calibri"/>
              </a:rPr>
              <a:t>itA</a:t>
            </a:r>
            <a:r>
              <a:rPr lang="en-IN" sz="1200" dirty="0">
                <a:solidFill>
                  <a:srgbClr val="1A1A1A"/>
                </a:solidFill>
                <a:latin typeface="+mn-lt"/>
                <a:ea typeface="Calibri"/>
                <a:cs typeface="Calibri"/>
              </a:rPr>
              <a:t>}+e^{−</a:t>
            </a:r>
            <a:r>
              <a:rPr lang="en-IN" sz="1200" dirty="0" err="1">
                <a:solidFill>
                  <a:srgbClr val="1A1A1A"/>
                </a:solidFill>
                <a:latin typeface="+mn-lt"/>
                <a:ea typeface="Calibri"/>
                <a:cs typeface="Calibri"/>
              </a:rPr>
              <a:t>itA</a:t>
            </a:r>
            <a:r>
              <a:rPr lang="en-IN" sz="1200" dirty="0">
                <a:solidFill>
                  <a:srgbClr val="1A1A1A"/>
                </a:solidFill>
                <a:latin typeface="+mn-lt"/>
                <a:ea typeface="Calibri"/>
                <a:cs typeface="Calibri"/>
              </a:rPr>
              <a:t>}) = cos(</a:t>
            </a:r>
            <a:r>
              <a:rPr lang="en-IN" sz="1200" dirty="0" err="1">
                <a:solidFill>
                  <a:srgbClr val="1A1A1A"/>
                </a:solidFill>
                <a:latin typeface="+mn-lt"/>
                <a:ea typeface="Calibri"/>
                <a:cs typeface="Calibri"/>
              </a:rPr>
              <a:t>tA</a:t>
            </a:r>
            <a:r>
              <a:rPr lang="en-IN" sz="1200" dirty="0">
                <a:solidFill>
                  <a:srgbClr val="1A1A1A"/>
                </a:solidFill>
                <a:latin typeface="+mn-lt"/>
                <a:ea typeface="Calibri"/>
                <a:cs typeface="Calibri"/>
              </a:rPr>
              <a:t>). SELECT is one controlled forward evolution (on |0⟩, open dot) and one controlled backward evolution (on |1⟩, filled dot) — exactly the resource HHL certifies. Verified each run: ‖⟨0|U_enc|0⟩ − cos(</a:t>
            </a:r>
            <a:r>
              <a:rPr lang="en-IN" sz="1200" dirty="0" err="1">
                <a:solidFill>
                  <a:srgbClr val="1A1A1A"/>
                </a:solidFill>
                <a:latin typeface="+mn-lt"/>
                <a:ea typeface="Calibri"/>
                <a:cs typeface="Calibri"/>
              </a:rPr>
              <a:t>tA</a:t>
            </a:r>
            <a:r>
              <a:rPr lang="en-IN" sz="1200" dirty="0">
                <a:solidFill>
                  <a:srgbClr val="1A1A1A"/>
                </a:solidFill>
                <a:latin typeface="+mn-lt"/>
                <a:ea typeface="Calibri"/>
                <a:cs typeface="Calibri"/>
              </a:rPr>
              <a:t>)‖ = 2.2·10⁻¹⁶.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844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IN" sz="1200" dirty="0">
                <a:solidFill>
                  <a:srgbClr val="1A1A1A"/>
                </a:solidFill>
                <a:latin typeface="+mn-lt"/>
                <a:ea typeface="Calibri"/>
                <a:cs typeface="Calibri"/>
              </a:rPr>
              <a:t>d = 40 → 80 U_enc queries (the outer LCU doubles), 82 Rz rotations, logical depth ≈ 177, 7 qubits total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5507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135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Quantum Linear System Algorithms for Graph-Based Financial Risk Diffusion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Group 26A</a:t>
            </a:r>
          </a:p>
          <a:p>
            <a:r>
              <a:rPr lang="en-US"/>
              <a:t>Harris Ahmed M, Neha Girdhar, Snigdha Chandan,</a:t>
            </a:r>
          </a:p>
          <a:p>
            <a:r>
              <a:rPr lang="en-US"/>
              <a:t>Selvakumar Arumugam, Rishanthi Ramakrishnan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37A7-6F18-2001-6D17-B8A92084F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67A1B-20DE-3FEB-3B5F-F32DB74EF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Given: </a:t>
            </a:r>
          </a:p>
          <a:p>
            <a:pPr lvl="1"/>
            <a:r>
              <a:rPr lang="en-US"/>
              <a:t>A large but sparse financial network with N institutions (banks)</a:t>
            </a:r>
            <a:endParaRPr lang="en-US" dirty="0"/>
          </a:p>
          <a:p>
            <a:pPr lvl="1"/>
            <a:r>
              <a:rPr lang="en-US"/>
              <a:t>A few banks suddenly get high risk scores</a:t>
            </a:r>
            <a:br>
              <a:rPr lang="en-US" dirty="0"/>
            </a:br>
            <a:endParaRPr lang="en-US"/>
          </a:p>
          <a:p>
            <a:r>
              <a:rPr lang="en-US"/>
              <a:t>How does the risk propagate across the network?</a:t>
            </a:r>
            <a:br>
              <a:rPr lang="en-US" dirty="0"/>
            </a:br>
            <a:endParaRPr lang="en-US" dirty="0"/>
          </a:p>
          <a:p>
            <a:r>
              <a:rPr lang="en-US" dirty="0"/>
              <a:t>Which banks are affect</a:t>
            </a:r>
            <a:r>
              <a:rPr lang="en-US"/>
              <a:t>ed?</a:t>
            </a:r>
            <a:endParaRPr lang="en-US" dirty="0"/>
          </a:p>
          <a:p>
            <a:pPr lvl="1"/>
            <a:r>
              <a:rPr lang="en-US"/>
              <a:t>What are the most affected banks?</a:t>
            </a:r>
            <a:endParaRPr lang="en-US" dirty="0"/>
          </a:p>
          <a:p>
            <a:pPr lvl="1"/>
            <a:r>
              <a:rPr lang="en-US"/>
              <a:t>Is my bank safe?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837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0FD1-8D6E-B426-9630-9AC2ABF4C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2269"/>
            <a:ext cx="7082971" cy="1238476"/>
          </a:xfrm>
        </p:spPr>
        <p:txBody>
          <a:bodyPr>
            <a:normAutofit/>
          </a:bodyPr>
          <a:lstStyle/>
          <a:p>
            <a:r>
              <a:rPr lang="en-US"/>
              <a:t>Problem Statement: 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E4D1F5-1999-50FE-3CE9-744D0C615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27" y="1245085"/>
            <a:ext cx="7605486" cy="40775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D3A182-7AB5-44C7-D9D6-7CF6275D4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871" y="653824"/>
            <a:ext cx="3276600" cy="511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501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D7DDB-B4A4-4EDA-D087-E658BB415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Statement: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A371B-C05D-8C97-B87E-699A53C32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N nodes </a:t>
            </a:r>
            <a:endParaRPr lang="en-US" dirty="0"/>
          </a:p>
          <a:p>
            <a:r>
              <a:rPr lang="en-US" dirty="0"/>
              <a:t>Diffu</a:t>
            </a:r>
            <a:r>
              <a:rPr lang="en-US"/>
              <a:t>sion Parameter, α</a:t>
            </a:r>
          </a:p>
          <a:p>
            <a:r>
              <a:rPr lang="en-US"/>
              <a:t>Adjacency matrix, J</a:t>
            </a:r>
            <a:endParaRPr lang="en-US" dirty="0"/>
          </a:p>
          <a:p>
            <a:r>
              <a:rPr lang="en-US" dirty="0"/>
              <a:t>Degree matri</a:t>
            </a:r>
            <a:r>
              <a:rPr lang="en-US"/>
              <a:t>x, D – diagonal :</a:t>
            </a:r>
            <a:endParaRPr lang="en-US" dirty="0"/>
          </a:p>
          <a:p>
            <a:r>
              <a:rPr lang="en-US"/>
              <a:t>Laplacian, L = D – J</a:t>
            </a:r>
            <a:endParaRPr lang="en-US" dirty="0"/>
          </a:p>
          <a:p>
            <a:r>
              <a:rPr lang="en-US"/>
              <a:t>Risk scores, x</a:t>
            </a:r>
            <a:br>
              <a:rPr lang="en-US" dirty="0"/>
            </a:br>
            <a:endParaRPr lang="en-US" dirty="0"/>
          </a:p>
          <a:p>
            <a:r>
              <a:rPr lang="en-US"/>
              <a:t>Model: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A6E644-B9B4-A93D-C7CD-61AE0A602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235" y="4935312"/>
            <a:ext cx="5255532" cy="12328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82790F-FCA6-DCB2-DCC1-A1B71C253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502" y="3092677"/>
            <a:ext cx="1876425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764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74616-E1E9-B6F2-2153-0EEB23347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182"/>
            <a:ext cx="10515600" cy="1325563"/>
          </a:xfrm>
        </p:spPr>
        <p:txBody>
          <a:bodyPr/>
          <a:lstStyle/>
          <a:p>
            <a:r>
              <a:rPr lang="en-US" err="1"/>
              <a:t>Probl</a:t>
            </a:r>
            <a:r>
              <a:rPr lang="en-US"/>
              <a:t>em Statement – 3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1605E-0092-E4EF-DA4A-48C5C2ABA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1340"/>
            <a:ext cx="10515600" cy="484482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Model 1</a:t>
            </a:r>
            <a:br>
              <a:rPr lang="en-US" dirty="0"/>
            </a:br>
            <a:endParaRPr lang="en-US" dirty="0"/>
          </a:p>
          <a:p>
            <a:pPr lvl="1"/>
            <a:r>
              <a:rPr lang="en-US"/>
              <a:t>Biased towards nodes with high degree. So, normalize Laplacian.</a:t>
            </a:r>
            <a:br>
              <a:rPr lang="en-US" dirty="0"/>
            </a:br>
            <a:endParaRPr lang="en-US"/>
          </a:p>
          <a:p>
            <a:r>
              <a:rPr lang="en-US"/>
              <a:t>Model 3</a:t>
            </a:r>
            <a:br>
              <a:rPr lang="en-US" dirty="0"/>
            </a:br>
            <a:endParaRPr lang="en-US" dirty="0"/>
          </a:p>
          <a:p>
            <a:pPr lvl="1"/>
            <a:r>
              <a:rPr lang="en-US"/>
              <a:t>Matrix not Hermitian, also poorly conditioned.</a:t>
            </a:r>
            <a:br>
              <a:rPr lang="en-US" dirty="0"/>
            </a:br>
            <a:r>
              <a:rPr lang="en-US"/>
              <a:t>So, symmetrically normalize Laplacian.</a:t>
            </a:r>
            <a:br>
              <a:rPr lang="en-US" dirty="0"/>
            </a:br>
            <a:endParaRPr lang="en-US" dirty="0"/>
          </a:p>
          <a:p>
            <a:r>
              <a:rPr lang="en-US"/>
              <a:t>Model 2</a:t>
            </a:r>
            <a:br>
              <a:rPr lang="en-US" dirty="0"/>
            </a:br>
            <a:endParaRPr lang="en-US" dirty="0"/>
          </a:p>
          <a:p>
            <a:pPr lvl="1"/>
            <a:r>
              <a:rPr lang="en-US"/>
              <a:t>Now, the matrix is nice!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4CA799-42AE-BCFC-83FA-1ADDC03E4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038" y="1233940"/>
            <a:ext cx="4298496" cy="9647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37CDB3-D338-D61A-5F08-F9885698A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760" y="2875869"/>
            <a:ext cx="4162425" cy="714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415642-0302-9773-F3F5-D8C7C54FF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3758" y="5016728"/>
            <a:ext cx="4162425" cy="714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7A3F9A-6255-920B-AA70-B7FC231191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0039" y="5533344"/>
            <a:ext cx="3028950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484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ACFE7-B496-1730-609D-4DBC11D82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7221"/>
          </a:xfrm>
        </p:spPr>
        <p:txBody>
          <a:bodyPr/>
          <a:lstStyle/>
          <a:p>
            <a:r>
              <a:rPr lang="en-US"/>
              <a:t>Quantum 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1503D-2523-20D1-3520-A0B62A38F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997"/>
            <a:ext cx="10515600" cy="473596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Linear equation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The quantum solution state is </a:t>
            </a:r>
            <a:r>
              <a:rPr lang="en-US"/>
              <a:t>proportional to the true solution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Realistic assumption on input sh</a:t>
            </a:r>
            <a:r>
              <a:rPr lang="en-US"/>
              <a:t>ock vector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/>
              <a:t>Sparsity, s</a:t>
            </a:r>
          </a:p>
          <a:p>
            <a:r>
              <a:rPr lang="en-US"/>
              <a:t>Condition Number,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134E21-11CE-3B93-2985-7DBA05795F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730" b="961"/>
          <a:stretch>
            <a:fillRect/>
          </a:stretch>
        </p:blipFill>
        <p:spPr>
          <a:xfrm>
            <a:off x="3209018" y="1848077"/>
            <a:ext cx="1513535" cy="7452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FD1D23-F7A3-04FA-59A3-38D614802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0925" y="3992108"/>
            <a:ext cx="2266950" cy="1152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085025-46B2-0ECC-D3C1-7FF5A8E480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2371" y="5514977"/>
            <a:ext cx="870402" cy="66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624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5333C43-685B-D852-4EDD-76CFDA48E9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3057326"/>
              </p:ext>
            </p:extLst>
          </p:nvPr>
        </p:nvGraphicFramePr>
        <p:xfrm>
          <a:off x="849087" y="1317172"/>
          <a:ext cx="10689770" cy="47824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319" name="TextBox 2318">
            <a:extLst>
              <a:ext uri="{FF2B5EF4-FFF2-40B4-BE49-F238E27FC236}">
                <a16:creationId xmlns:a16="http://schemas.microsoft.com/office/drawing/2014/main" id="{EA47F219-508A-22AD-1271-571F2C608494}"/>
              </a:ext>
            </a:extLst>
          </p:cNvPr>
          <p:cNvSpPr txBox="1"/>
          <p:nvPr/>
        </p:nvSpPr>
        <p:spPr>
          <a:xfrm>
            <a:off x="847240" y="496892"/>
            <a:ext cx="106897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/>
              <a:t>Algorithmic Pipeline (Modular Components)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369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93718-5B88-9C1C-390C-5307C5540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Shock State Preparation Circuit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4FE226-B037-48D3-28D8-CFDC9DDCF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" y="3136447"/>
            <a:ext cx="11982450" cy="30670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BE4E5E-0D54-D2C4-14BB-4CFA153BD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811" y="1479096"/>
            <a:ext cx="74485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056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25603-E30A-EC61-CF5D-AEB920F48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Encoding (Low and </a:t>
            </a:r>
            <a:r>
              <a:rPr lang="en-US"/>
              <a:t>Chuang, 2016)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F18A3-A92F-B357-9C78-D1C038603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7740"/>
            <a:ext cx="4978401" cy="448922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Encode A in a higher </a:t>
            </a:r>
            <a:r>
              <a:rPr lang="en-US" dirty="0" err="1"/>
              <a:t>dim'l</a:t>
            </a:r>
            <a:r>
              <a:rPr lang="en-US" dirty="0"/>
              <a:t> space</a:t>
            </a:r>
            <a:br>
              <a:rPr lang="en-US" dirty="0"/>
            </a:br>
            <a:endParaRPr lang="en-US" dirty="0"/>
          </a:p>
          <a:p>
            <a:r>
              <a:rPr lang="en-US"/>
              <a:t>Eigenvalue/Eigenvector pairs</a:t>
            </a:r>
            <a:br>
              <a:rPr lang="en-US" dirty="0"/>
            </a:br>
            <a:br>
              <a:rPr lang="en-US" dirty="0"/>
            </a:br>
            <a:r>
              <a:rPr lang="en-US"/>
              <a:t>become</a:t>
            </a:r>
            <a:br>
              <a:rPr lang="en-US" dirty="0"/>
            </a:br>
            <a:br>
              <a:rPr lang="en-US" dirty="0"/>
            </a:br>
            <a:r>
              <a:rPr lang="en-US"/>
              <a:t>2D-invariant subspaces</a:t>
            </a:r>
            <a:br>
              <a:rPr lang="en-US" dirty="0"/>
            </a:br>
            <a:endParaRPr lang="en-US" dirty="0"/>
          </a:p>
          <a:p>
            <a:r>
              <a:rPr lang="en-US" dirty="0"/>
              <a:t>Each Eigenpair = A Qubit (</a:t>
            </a:r>
            <a:r>
              <a:rPr lang="en-US" dirty="0" err="1"/>
              <a:t>Qubitization</a:t>
            </a:r>
            <a:r>
              <a:rPr lang="en-US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B029AA-C54D-8A6F-8A04-7D5B56A33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986" y="1444171"/>
            <a:ext cx="5279573" cy="35342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4BE0DD-CA14-8A63-FBD2-FCC217BD8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9" y="5267095"/>
            <a:ext cx="5152574" cy="121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652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F1C59-EBC6-854D-2AF3-72DC274F8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2896"/>
            <a:ext cx="10515600" cy="1325563"/>
          </a:xfrm>
        </p:spPr>
        <p:txBody>
          <a:bodyPr/>
          <a:lstStyle/>
          <a:p>
            <a:r>
              <a:rPr lang="en-US"/>
              <a:t>Block Encoding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5A926-8888-9DFE-7EA2-147F31231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7168"/>
            <a:ext cx="3548743" cy="506979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Two kinds</a:t>
            </a:r>
          </a:p>
          <a:p>
            <a:pPr lvl="1"/>
            <a:r>
              <a:rPr lang="en-US" dirty="0"/>
              <a:t>Berry-Childs Block Encoding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 = Reflection about 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Im</a:t>
            </a:r>
            <a:r>
              <a:rPr lang="en-US" dirty="0"/>
              <a:t>(T)</a:t>
            </a:r>
            <a:br>
              <a:rPr lang="en-US" dirty="0"/>
            </a:br>
            <a:r>
              <a:rPr lang="en-US" dirty="0"/>
              <a:t>S = Swap </a:t>
            </a:r>
            <a:br>
              <a:rPr lang="en-US" dirty="0"/>
            </a:br>
            <a:r>
              <a:rPr lang="en-US" dirty="0"/>
              <a:t>        row and system</a:t>
            </a:r>
            <a:br>
              <a:rPr lang="en-US" dirty="0"/>
            </a:br>
            <a:r>
              <a:rPr lang="en-US" dirty="0"/>
              <a:t>W = SR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Linear Combination of </a:t>
            </a:r>
            <a:r>
              <a:rPr lang="en-US" dirty="0" err="1"/>
              <a:t>Unitaries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FACE09-0D92-E54F-9568-302E0B33C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033" y="5826804"/>
            <a:ext cx="1743075" cy="9810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9ED7E9-20BC-1CD0-EAE9-813E6304F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081" y="1106941"/>
            <a:ext cx="6501041" cy="37877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E66509-9219-93ED-EB89-3E3C506AD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5868" y="5723391"/>
            <a:ext cx="5184322" cy="108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130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E0F927B-F673-49A1-A174-405DE81C79AF}"/>
              </a:ext>
            </a:extLst>
          </p:cNvPr>
          <p:cNvSpPr/>
          <p:nvPr/>
        </p:nvSpPr>
        <p:spPr>
          <a:xfrm>
            <a:off x="6231467" y="3975100"/>
            <a:ext cx="4876800" cy="42333"/>
          </a:xfrm>
          <a:prstGeom prst="rect">
            <a:avLst/>
          </a:prstGeom>
          <a:solidFill>
            <a:srgbClr val="1A1A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32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1BB740-4A94-4566-8543-229F2DCFD512}"/>
              </a:ext>
            </a:extLst>
          </p:cNvPr>
          <p:cNvSpPr/>
          <p:nvPr/>
        </p:nvSpPr>
        <p:spPr>
          <a:xfrm>
            <a:off x="6231467" y="2857500"/>
            <a:ext cx="4402667" cy="42333"/>
          </a:xfrm>
          <a:prstGeom prst="rect">
            <a:avLst/>
          </a:prstGeom>
          <a:solidFill>
            <a:srgbClr val="1A1A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32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5B4F30-19A9-4902-A3A3-218E835CED20}"/>
              </a:ext>
            </a:extLst>
          </p:cNvPr>
          <p:cNvSpPr txBox="1"/>
          <p:nvPr/>
        </p:nvSpPr>
        <p:spPr>
          <a:xfrm>
            <a:off x="609600" y="338667"/>
            <a:ext cx="10972800" cy="800219"/>
          </a:xfrm>
          <a:prstGeom prst="rect">
            <a:avLst/>
          </a:prstGeom>
          <a:noFill/>
        </p:spPr>
        <p:txBody>
          <a:bodyPr vertOverflow="overflow" vert="horz" wrap="square" lIns="121920" tIns="60960" rIns="121920" bIns="60960" rtlCol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>
                <a:solidFill>
                  <a:srgbClr val="1A1A1A"/>
                </a:solidFill>
                <a:latin typeface="Aptos Display"/>
                <a:ea typeface="Cambria"/>
              </a:rPr>
              <a:t>LCU Block Encoding</a:t>
            </a:r>
            <a:endParaRPr lang="en-IN" sz="4400">
              <a:solidFill>
                <a:srgbClr val="1A1A1A"/>
              </a:solidFill>
              <a:latin typeface="Aptos Display"/>
              <a:ea typeface="Cambri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A2B908-515E-4EFC-9976-3BCB34489EBF}"/>
              </a:ext>
            </a:extLst>
          </p:cNvPr>
          <p:cNvSpPr txBox="1"/>
          <p:nvPr/>
        </p:nvSpPr>
        <p:spPr>
          <a:xfrm>
            <a:off x="5890381" y="1712686"/>
            <a:ext cx="5283200" cy="4205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133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LCU sandwich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53DBD9-6374-47B5-AA25-A3C53E97AAE2}"/>
              </a:ext>
            </a:extLst>
          </p:cNvPr>
          <p:cNvSpPr txBox="1"/>
          <p:nvPr/>
        </p:nvSpPr>
        <p:spPr>
          <a:xfrm>
            <a:off x="880533" y="3251200"/>
            <a:ext cx="948267" cy="37965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867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U_A  =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7734DC-1894-4840-A3DC-1174491D8ED5}"/>
              </a:ext>
            </a:extLst>
          </p:cNvPr>
          <p:cNvSpPr/>
          <p:nvPr/>
        </p:nvSpPr>
        <p:spPr>
          <a:xfrm>
            <a:off x="1998133" y="2235200"/>
            <a:ext cx="1219200" cy="1219200"/>
          </a:xfrm>
          <a:prstGeom prst="rect">
            <a:avLst/>
          </a:prstGeom>
          <a:solidFill>
            <a:srgbClr val="1C5B7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A/α_A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F44E6E-97A7-4EC5-B81E-267102F1BD43}"/>
              </a:ext>
            </a:extLst>
          </p:cNvPr>
          <p:cNvSpPr/>
          <p:nvPr/>
        </p:nvSpPr>
        <p:spPr>
          <a:xfrm>
            <a:off x="3217333" y="2235200"/>
            <a:ext cx="1219200" cy="1219200"/>
          </a:xfrm>
          <a:prstGeom prst="rect">
            <a:avLst/>
          </a:prstGeom>
          <a:solidFill>
            <a:srgbClr val="E8ECEF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133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·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3123E7-66C2-4F25-BC36-8CB20721573A}"/>
              </a:ext>
            </a:extLst>
          </p:cNvPr>
          <p:cNvSpPr/>
          <p:nvPr/>
        </p:nvSpPr>
        <p:spPr>
          <a:xfrm>
            <a:off x="1998133" y="3454400"/>
            <a:ext cx="1219200" cy="1219200"/>
          </a:xfrm>
          <a:prstGeom prst="rect">
            <a:avLst/>
          </a:prstGeom>
          <a:solidFill>
            <a:srgbClr val="E8ECEF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133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·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CD46B3-C322-4753-9186-143541F5C2E9}"/>
              </a:ext>
            </a:extLst>
          </p:cNvPr>
          <p:cNvSpPr/>
          <p:nvPr/>
        </p:nvSpPr>
        <p:spPr>
          <a:xfrm>
            <a:off x="3217333" y="3454400"/>
            <a:ext cx="1219200" cy="1219200"/>
          </a:xfrm>
          <a:prstGeom prst="rect">
            <a:avLst/>
          </a:prstGeom>
          <a:solidFill>
            <a:srgbClr val="E8ECEF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133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·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768F24-C0F3-48C6-A7E5-90C430FC42A9}"/>
              </a:ext>
            </a:extLst>
          </p:cNvPr>
          <p:cNvSpPr txBox="1"/>
          <p:nvPr/>
        </p:nvSpPr>
        <p:spPr>
          <a:xfrm>
            <a:off x="1354667" y="4852180"/>
            <a:ext cx="5080000" cy="4205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133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(⟨0|⊗I)·U_A·(|0⟩⊗I) = A/α_A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B0ADFA-1727-4236-BB5E-06629888AD10}"/>
              </a:ext>
            </a:extLst>
          </p:cNvPr>
          <p:cNvSpPr txBox="1"/>
          <p:nvPr/>
        </p:nvSpPr>
        <p:spPr>
          <a:xfrm>
            <a:off x="5621867" y="2692400"/>
            <a:ext cx="541867" cy="33866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6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anc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387DA5-F443-43CF-9036-5CE3C2E4965F}"/>
              </a:ext>
            </a:extLst>
          </p:cNvPr>
          <p:cNvSpPr txBox="1"/>
          <p:nvPr/>
        </p:nvSpPr>
        <p:spPr>
          <a:xfrm>
            <a:off x="5621867" y="3810000"/>
            <a:ext cx="541867" cy="33866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6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sys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A9C61D-B631-4448-ADC8-294E53EDF705}"/>
              </a:ext>
            </a:extLst>
          </p:cNvPr>
          <p:cNvSpPr txBox="1"/>
          <p:nvPr/>
        </p:nvSpPr>
        <p:spPr>
          <a:xfrm>
            <a:off x="10735733" y="2692400"/>
            <a:ext cx="508000" cy="338667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6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|0⟩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864A40-3BC9-4F3E-B007-36F4C765D098}"/>
              </a:ext>
            </a:extLst>
          </p:cNvPr>
          <p:cNvSpPr txBox="1"/>
          <p:nvPr/>
        </p:nvSpPr>
        <p:spPr>
          <a:xfrm>
            <a:off x="5302104" y="4954211"/>
            <a:ext cx="6280297" cy="451405"/>
          </a:xfrm>
          <a:prstGeom prst="rect">
            <a:avLst/>
          </a:prstGeom>
          <a:noFill/>
        </p:spPr>
        <p:txBody>
          <a:bodyPr vertOverflow="overflow" vert="horz" wrap="square" lIns="121920" tIns="60960" rIns="121920" bIns="60960" rtlCol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133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⟨0|ₐ(PREP†·SELECT·PREP)|0⟩ₐ = Σⱼ(αⱼ/α_A)Uⱼ = A/α_A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A83756-570B-42A0-BF02-F0501FD26D77}"/>
              </a:ext>
            </a:extLst>
          </p:cNvPr>
          <p:cNvSpPr/>
          <p:nvPr/>
        </p:nvSpPr>
        <p:spPr>
          <a:xfrm>
            <a:off x="6502400" y="2573867"/>
            <a:ext cx="1083733" cy="609600"/>
          </a:xfrm>
          <a:prstGeom prst="rect">
            <a:avLst/>
          </a:prstGeom>
          <a:solidFill>
            <a:srgbClr val="1C5B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667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F8CED1-6C65-4E99-B9C6-7D2339C0DF86}"/>
              </a:ext>
            </a:extLst>
          </p:cNvPr>
          <p:cNvSpPr/>
          <p:nvPr/>
        </p:nvSpPr>
        <p:spPr>
          <a:xfrm>
            <a:off x="7924800" y="2540000"/>
            <a:ext cx="1286933" cy="1828800"/>
          </a:xfrm>
          <a:prstGeom prst="rect">
            <a:avLst/>
          </a:prstGeom>
          <a:solidFill>
            <a:srgbClr val="1C5B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667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SELECT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D4DBC1-38B6-4BE1-A0A3-C1EB230C41A3}"/>
              </a:ext>
            </a:extLst>
          </p:cNvPr>
          <p:cNvSpPr/>
          <p:nvPr/>
        </p:nvSpPr>
        <p:spPr>
          <a:xfrm>
            <a:off x="9550400" y="2573867"/>
            <a:ext cx="1083733" cy="609600"/>
          </a:xfrm>
          <a:prstGeom prst="rect">
            <a:avLst/>
          </a:prstGeom>
          <a:solidFill>
            <a:srgbClr val="1C5B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667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PREP†</a:t>
            </a:r>
          </a:p>
        </p:txBody>
      </p:sp>
    </p:spTree>
    <p:extLst>
      <p:ext uri="{BB962C8B-B14F-4D97-AF65-F5344CB8AC3E}">
        <p14:creationId xmlns:p14="http://schemas.microsoft.com/office/powerpoint/2010/main" val="2713934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C367404-94FA-4EA0-8F65-7928577E818D}"/>
              </a:ext>
            </a:extLst>
          </p:cNvPr>
          <p:cNvSpPr/>
          <p:nvPr/>
        </p:nvSpPr>
        <p:spPr>
          <a:xfrm>
            <a:off x="6582834" y="3014134"/>
            <a:ext cx="42333" cy="1693333"/>
          </a:xfrm>
          <a:prstGeom prst="rect">
            <a:avLst/>
          </a:prstGeom>
          <a:solidFill>
            <a:srgbClr val="1A1A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32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7E18B5-5A2B-4F75-B8EA-AF4828140F90}"/>
              </a:ext>
            </a:extLst>
          </p:cNvPr>
          <p:cNvSpPr/>
          <p:nvPr/>
        </p:nvSpPr>
        <p:spPr>
          <a:xfrm>
            <a:off x="3873500" y="3014134"/>
            <a:ext cx="42333" cy="1693333"/>
          </a:xfrm>
          <a:prstGeom prst="rect">
            <a:avLst/>
          </a:prstGeom>
          <a:solidFill>
            <a:srgbClr val="1A1A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32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AC51E4-50E2-40F0-9511-AC63751929B3}"/>
              </a:ext>
            </a:extLst>
          </p:cNvPr>
          <p:cNvSpPr/>
          <p:nvPr/>
        </p:nvSpPr>
        <p:spPr>
          <a:xfrm>
            <a:off x="1117600" y="4686300"/>
            <a:ext cx="10058400" cy="42333"/>
          </a:xfrm>
          <a:prstGeom prst="rect">
            <a:avLst/>
          </a:prstGeom>
          <a:solidFill>
            <a:srgbClr val="1A1A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3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09968A-ADCD-4EEB-AA17-19C883DED178}"/>
              </a:ext>
            </a:extLst>
          </p:cNvPr>
          <p:cNvSpPr/>
          <p:nvPr/>
        </p:nvSpPr>
        <p:spPr>
          <a:xfrm>
            <a:off x="1117600" y="2992967"/>
            <a:ext cx="10058400" cy="42333"/>
          </a:xfrm>
          <a:prstGeom prst="rect">
            <a:avLst/>
          </a:prstGeom>
          <a:solidFill>
            <a:srgbClr val="1A1A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32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AC536C-F865-4DA8-B31C-17A1A5846540}"/>
              </a:ext>
            </a:extLst>
          </p:cNvPr>
          <p:cNvSpPr txBox="1"/>
          <p:nvPr/>
        </p:nvSpPr>
        <p:spPr>
          <a:xfrm>
            <a:off x="609600" y="338667"/>
            <a:ext cx="10972800" cy="1361911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>
                <a:solidFill>
                  <a:srgbClr val="1A1A1A"/>
                </a:solidFill>
                <a:latin typeface="Aptos Display"/>
                <a:ea typeface="Cambria"/>
              </a:rPr>
              <a:t>The Implemented LCU Block Encoding</a:t>
            </a:r>
            <a:endParaRPr lang="en-IN" sz="4400">
              <a:solidFill>
                <a:srgbClr val="1A1A1A"/>
              </a:solidFill>
              <a:latin typeface="Aptos Display"/>
              <a:ea typeface="Cambria"/>
            </a:endParaRPr>
          </a:p>
          <a:p>
            <a:pPr algn="l"/>
            <a:endParaRPr lang="en-IN" sz="3850" b="1" dirty="0">
              <a:solidFill>
                <a:srgbClr val="1A1A1A"/>
              </a:solidFill>
              <a:latin typeface="Cambria"/>
              <a:ea typeface="Cambri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3B34E2-4617-4222-84D5-65BF104FD89B}"/>
              </a:ext>
            </a:extLst>
          </p:cNvPr>
          <p:cNvSpPr txBox="1"/>
          <p:nvPr/>
        </p:nvSpPr>
        <p:spPr>
          <a:xfrm>
            <a:off x="609600" y="1066800"/>
            <a:ext cx="10972800" cy="34887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667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PREPARE = H  →  SELECT = controlled ±e^{itA}  →  UNPREPARE = H;  ancilla-|0⟩ block = cos(tA)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4E61D7-3170-4899-BC46-FEAD8CCCC98B}"/>
              </a:ext>
            </a:extLst>
          </p:cNvPr>
          <p:cNvSpPr txBox="1"/>
          <p:nvPr/>
        </p:nvSpPr>
        <p:spPr>
          <a:xfrm>
            <a:off x="1016000" y="5960533"/>
            <a:ext cx="10160000" cy="745067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533" dirty="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FFE720-9CBB-4957-BFDF-2EE00547F590}"/>
              </a:ext>
            </a:extLst>
          </p:cNvPr>
          <p:cNvSpPr txBox="1"/>
          <p:nvPr/>
        </p:nvSpPr>
        <p:spPr>
          <a:xfrm>
            <a:off x="508000" y="2810934"/>
            <a:ext cx="541867" cy="37253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733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EE2C3B-6F33-4D11-9F36-D00996C200F4}"/>
              </a:ext>
            </a:extLst>
          </p:cNvPr>
          <p:cNvSpPr txBox="1"/>
          <p:nvPr/>
        </p:nvSpPr>
        <p:spPr>
          <a:xfrm>
            <a:off x="406400" y="4504267"/>
            <a:ext cx="643467" cy="37253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733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sys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DDA50B-E16E-4E71-9FC2-66E66FB87473}"/>
              </a:ext>
            </a:extLst>
          </p:cNvPr>
          <p:cNvSpPr txBox="1"/>
          <p:nvPr/>
        </p:nvSpPr>
        <p:spPr>
          <a:xfrm>
            <a:off x="1049867" y="3420533"/>
            <a:ext cx="1524000" cy="318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467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PREPARE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496ACA-8D8D-4A82-AF55-3E9B955B780B}"/>
              </a:ext>
            </a:extLst>
          </p:cNvPr>
          <p:cNvSpPr txBox="1"/>
          <p:nvPr/>
        </p:nvSpPr>
        <p:spPr>
          <a:xfrm>
            <a:off x="9550400" y="3420533"/>
            <a:ext cx="1524000" cy="318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467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UNPREPARE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3F62BD-C6F4-4FAB-86CF-6E1B310E3822}"/>
              </a:ext>
            </a:extLst>
          </p:cNvPr>
          <p:cNvSpPr txBox="1"/>
          <p:nvPr/>
        </p:nvSpPr>
        <p:spPr>
          <a:xfrm>
            <a:off x="3386667" y="5147733"/>
            <a:ext cx="3725333" cy="318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467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SELECT  (controlled ± evolution)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42ACF0-DDC6-47BE-A2B3-03188C2238AC}"/>
              </a:ext>
            </a:extLst>
          </p:cNvPr>
          <p:cNvSpPr txBox="1"/>
          <p:nvPr/>
        </p:nvSpPr>
        <p:spPr>
          <a:xfrm>
            <a:off x="2370667" y="5452533"/>
            <a:ext cx="7450667" cy="318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467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○  control on |0⟩  →  e^(+itA)        ●  control on |1⟩  →  e^(−itA)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C5C933-5C64-4400-8FB1-5908AD7BF78B}"/>
              </a:ext>
            </a:extLst>
          </p:cNvPr>
          <p:cNvSpPr/>
          <p:nvPr/>
        </p:nvSpPr>
        <p:spPr>
          <a:xfrm>
            <a:off x="1490133" y="2709333"/>
            <a:ext cx="643467" cy="609600"/>
          </a:xfrm>
          <a:prstGeom prst="rect">
            <a:avLst/>
          </a:prstGeom>
          <a:solidFill>
            <a:srgbClr val="1C5B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13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85C4A6-61A1-451C-B6E7-45A30CC89635}"/>
              </a:ext>
            </a:extLst>
          </p:cNvPr>
          <p:cNvSpPr/>
          <p:nvPr/>
        </p:nvSpPr>
        <p:spPr>
          <a:xfrm>
            <a:off x="9990667" y="2709333"/>
            <a:ext cx="643467" cy="609600"/>
          </a:xfrm>
          <a:prstGeom prst="rect">
            <a:avLst/>
          </a:prstGeom>
          <a:solidFill>
            <a:srgbClr val="1C5B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13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736F120-FA09-4FE6-8D03-BE953B3EAB10}"/>
              </a:ext>
            </a:extLst>
          </p:cNvPr>
          <p:cNvSpPr/>
          <p:nvPr/>
        </p:nvSpPr>
        <p:spPr>
          <a:xfrm>
            <a:off x="3776133" y="2895600"/>
            <a:ext cx="237067" cy="237067"/>
          </a:xfrm>
          <a:prstGeom prst="ellipse">
            <a:avLst/>
          </a:prstGeom>
          <a:solidFill>
            <a:srgbClr val="FFFFFF"/>
          </a:solidFill>
          <a:ln w="28575" cap="flat" cmpd="sng" algn="ctr">
            <a:solidFill>
              <a:srgbClr val="1C5B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320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B02ABFA-DFF7-4FB0-B3A2-4FC4324742FF}"/>
              </a:ext>
            </a:extLst>
          </p:cNvPr>
          <p:cNvSpPr/>
          <p:nvPr/>
        </p:nvSpPr>
        <p:spPr>
          <a:xfrm>
            <a:off x="6485467" y="2895600"/>
            <a:ext cx="237067" cy="237067"/>
          </a:xfrm>
          <a:prstGeom prst="ellipse">
            <a:avLst/>
          </a:prstGeom>
          <a:solidFill>
            <a:srgbClr val="1C5B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32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4F848F-2968-4E60-A6F7-750576214233}"/>
              </a:ext>
            </a:extLst>
          </p:cNvPr>
          <p:cNvSpPr/>
          <p:nvPr/>
        </p:nvSpPr>
        <p:spPr>
          <a:xfrm>
            <a:off x="3115733" y="4334933"/>
            <a:ext cx="1557867" cy="745067"/>
          </a:xfrm>
          <a:prstGeom prst="rect">
            <a:avLst/>
          </a:prstGeom>
          <a:solidFill>
            <a:srgbClr val="1C5B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867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e^(+itA)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EA6195-1B46-4B1E-9387-CD0F259BADDD}"/>
              </a:ext>
            </a:extLst>
          </p:cNvPr>
          <p:cNvSpPr/>
          <p:nvPr/>
        </p:nvSpPr>
        <p:spPr>
          <a:xfrm>
            <a:off x="5825067" y="4334933"/>
            <a:ext cx="1557867" cy="745067"/>
          </a:xfrm>
          <a:prstGeom prst="rect">
            <a:avLst/>
          </a:prstGeom>
          <a:solidFill>
            <a:srgbClr val="1C5B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867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e^(−itA)</a:t>
            </a:r>
          </a:p>
        </p:txBody>
      </p:sp>
    </p:spTree>
    <p:extLst>
      <p:ext uri="{BB962C8B-B14F-4D97-AF65-F5344CB8AC3E}">
        <p14:creationId xmlns:p14="http://schemas.microsoft.com/office/powerpoint/2010/main" val="278831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ACF9E34-A881-822E-F713-CBD54CD43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17" y="1147990"/>
            <a:ext cx="10929711" cy="57086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7DE027-6065-BA0F-3B00-4A4CC1615BE8}"/>
              </a:ext>
            </a:extLst>
          </p:cNvPr>
          <p:cNvSpPr txBox="1"/>
          <p:nvPr/>
        </p:nvSpPr>
        <p:spPr>
          <a:xfrm>
            <a:off x="624114" y="410027"/>
            <a:ext cx="9362621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>
                <a:solidFill>
                  <a:srgbClr val="1A1A1A"/>
                </a:solidFill>
                <a:latin typeface="Aptos Display"/>
              </a:rPr>
              <a:t>Eigenvalue Inversion </a:t>
            </a:r>
            <a:r>
              <a:rPr lang="en-US" sz="4400">
                <a:solidFill>
                  <a:srgbClr val="1A1A1A"/>
                </a:solidFill>
                <a:latin typeface="Aptos Display"/>
              </a:rPr>
              <a:t>Architecture (QPE)</a:t>
            </a:r>
            <a:endParaRPr lang="en-US" sz="4400" dirty="0">
              <a:solidFill>
                <a:srgbClr val="1A1A1A"/>
              </a:solidFill>
              <a:latin typeface="Aptos Display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244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692B435-F774-4403-9FEF-CFFE2359FA4A}"/>
              </a:ext>
            </a:extLst>
          </p:cNvPr>
          <p:cNvSpPr/>
          <p:nvPr/>
        </p:nvSpPr>
        <p:spPr>
          <a:xfrm>
            <a:off x="6582834" y="4436533"/>
            <a:ext cx="42333" cy="914400"/>
          </a:xfrm>
          <a:prstGeom prst="rect">
            <a:avLst/>
          </a:prstGeom>
          <a:solidFill>
            <a:srgbClr val="1A1A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32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591CBC-B8EE-4619-8E90-20F5871C90E7}"/>
              </a:ext>
            </a:extLst>
          </p:cNvPr>
          <p:cNvSpPr/>
          <p:nvPr/>
        </p:nvSpPr>
        <p:spPr>
          <a:xfrm>
            <a:off x="3873500" y="4436533"/>
            <a:ext cx="42333" cy="914400"/>
          </a:xfrm>
          <a:prstGeom prst="rect">
            <a:avLst/>
          </a:prstGeom>
          <a:solidFill>
            <a:srgbClr val="1A1A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32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D59769-2A31-43B7-A4E9-4DA48CEF8402}"/>
              </a:ext>
            </a:extLst>
          </p:cNvPr>
          <p:cNvSpPr/>
          <p:nvPr/>
        </p:nvSpPr>
        <p:spPr>
          <a:xfrm>
            <a:off x="1185334" y="5329767"/>
            <a:ext cx="9821333" cy="42333"/>
          </a:xfrm>
          <a:prstGeom prst="rect">
            <a:avLst/>
          </a:prstGeom>
          <a:solidFill>
            <a:srgbClr val="1A1A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32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1B94A4-2F63-402C-908B-677CF5E69F14}"/>
              </a:ext>
            </a:extLst>
          </p:cNvPr>
          <p:cNvSpPr/>
          <p:nvPr/>
        </p:nvSpPr>
        <p:spPr>
          <a:xfrm>
            <a:off x="1185333" y="4415367"/>
            <a:ext cx="9482667" cy="42333"/>
          </a:xfrm>
          <a:prstGeom prst="rect">
            <a:avLst/>
          </a:prstGeom>
          <a:solidFill>
            <a:srgbClr val="1A1A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3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10B39F-3FE2-434E-904B-9C6ABA39BA32}"/>
              </a:ext>
            </a:extLst>
          </p:cNvPr>
          <p:cNvSpPr/>
          <p:nvPr/>
        </p:nvSpPr>
        <p:spPr>
          <a:xfrm>
            <a:off x="1185334" y="3196167"/>
            <a:ext cx="9821333" cy="42333"/>
          </a:xfrm>
          <a:prstGeom prst="rect">
            <a:avLst/>
          </a:prstGeom>
          <a:solidFill>
            <a:srgbClr val="1A1A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32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B5D41A-0D2C-436E-9C51-9DAC275C0270}"/>
              </a:ext>
            </a:extLst>
          </p:cNvPr>
          <p:cNvSpPr/>
          <p:nvPr/>
        </p:nvSpPr>
        <p:spPr>
          <a:xfrm>
            <a:off x="1185334" y="2315634"/>
            <a:ext cx="9821333" cy="42333"/>
          </a:xfrm>
          <a:prstGeom prst="rect">
            <a:avLst/>
          </a:prstGeom>
          <a:solidFill>
            <a:srgbClr val="1A1A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32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FF7C8D-91CC-4C86-9283-1FEB554CB6CF}"/>
              </a:ext>
            </a:extLst>
          </p:cNvPr>
          <p:cNvSpPr txBox="1"/>
          <p:nvPr/>
        </p:nvSpPr>
        <p:spPr>
          <a:xfrm>
            <a:off x="609600" y="338667"/>
            <a:ext cx="10972800" cy="769441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>
                <a:solidFill>
                  <a:srgbClr val="1A1A1A"/>
                </a:solidFill>
                <a:latin typeface="Aptos"/>
                <a:ea typeface="Cambria"/>
              </a:rPr>
              <a:t>QSVT</a:t>
            </a:r>
            <a:r>
              <a:rPr lang="en-US" sz="4400">
                <a:solidFill>
                  <a:srgbClr val="1A1A1A"/>
                </a:solidFill>
                <a:ea typeface="+mn-lt"/>
                <a:cs typeface="+mn-lt"/>
              </a:rPr>
              <a:t> Consumption &amp; the Real-Part </a:t>
            </a:r>
            <a:r>
              <a:rPr lang="en-US" sz="4400">
                <a:solidFill>
                  <a:srgbClr val="1A1A1A"/>
                </a:solidFill>
                <a:latin typeface="Aptos"/>
                <a:ea typeface="Cambria"/>
              </a:rPr>
              <a:t>LCU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535416-FB1D-4349-AEBF-49EF361BD7A9}"/>
              </a:ext>
            </a:extLst>
          </p:cNvPr>
          <p:cNvSpPr txBox="1"/>
          <p:nvPr/>
        </p:nvSpPr>
        <p:spPr>
          <a:xfrm>
            <a:off x="609600" y="1066800"/>
            <a:ext cx="10972800" cy="34887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67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Phased iterates Rz(−2φₖ) alternate with U_enc; an outer LCU keeps the real part p(cos(tA))</a:t>
            </a:r>
            <a:endParaRPr lang="en-IN" sz="1667" i="1">
              <a:solidFill>
                <a:srgbClr val="6B728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0B08FA-6516-4E76-957C-A13E91985B80}"/>
              </a:ext>
            </a:extLst>
          </p:cNvPr>
          <p:cNvSpPr txBox="1"/>
          <p:nvPr/>
        </p:nvSpPr>
        <p:spPr>
          <a:xfrm>
            <a:off x="609600" y="1591733"/>
            <a:ext cx="10972800" cy="359009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7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QSVT layer structure</a:t>
            </a:r>
            <a:endParaRPr lang="en-IN" sz="1700" b="1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3CAF81-2914-4DC7-AD89-D79661719F08}"/>
              </a:ext>
            </a:extLst>
          </p:cNvPr>
          <p:cNvSpPr txBox="1"/>
          <p:nvPr/>
        </p:nvSpPr>
        <p:spPr>
          <a:xfrm>
            <a:off x="575733" y="2150533"/>
            <a:ext cx="508000" cy="33866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6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8C69E6-4024-4EB7-9791-633BBB29A69A}"/>
              </a:ext>
            </a:extLst>
          </p:cNvPr>
          <p:cNvSpPr txBox="1"/>
          <p:nvPr/>
        </p:nvSpPr>
        <p:spPr>
          <a:xfrm>
            <a:off x="508000" y="3031067"/>
            <a:ext cx="575733" cy="33866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6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sys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FAD7E6-5399-47A4-A29F-F3816410E5DA}"/>
              </a:ext>
            </a:extLst>
          </p:cNvPr>
          <p:cNvSpPr txBox="1"/>
          <p:nvPr/>
        </p:nvSpPr>
        <p:spPr>
          <a:xfrm>
            <a:off x="7382933" y="2133600"/>
            <a:ext cx="609600" cy="4205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133">
                <a:solidFill>
                  <a:srgbClr val="1A1A1A"/>
                </a:solidFill>
              </a:rPr>
              <a:t>⋯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5D7B89-2395-44CC-A4D0-1328569A9415}"/>
              </a:ext>
            </a:extLst>
          </p:cNvPr>
          <p:cNvSpPr txBox="1"/>
          <p:nvPr/>
        </p:nvSpPr>
        <p:spPr>
          <a:xfrm>
            <a:off x="609600" y="3759200"/>
            <a:ext cx="10972800" cy="359009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7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Real-part LCU wrapper</a:t>
            </a:r>
            <a:endParaRPr lang="en-IN" sz="1700" b="1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14A62F-BE84-44AF-9CCD-318E0587846D}"/>
              </a:ext>
            </a:extLst>
          </p:cNvPr>
          <p:cNvSpPr txBox="1"/>
          <p:nvPr/>
        </p:nvSpPr>
        <p:spPr>
          <a:xfrm>
            <a:off x="575733" y="4250267"/>
            <a:ext cx="508000" cy="33866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6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741D91-7F3E-4BBF-A422-193F12C7028D}"/>
              </a:ext>
            </a:extLst>
          </p:cNvPr>
          <p:cNvSpPr txBox="1"/>
          <p:nvPr/>
        </p:nvSpPr>
        <p:spPr>
          <a:xfrm>
            <a:off x="169333" y="5164667"/>
            <a:ext cx="914400" cy="33866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6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be,sys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1DC27F-083C-4AC4-80F0-177D9FD62C5D}"/>
              </a:ext>
            </a:extLst>
          </p:cNvPr>
          <p:cNvSpPr txBox="1"/>
          <p:nvPr/>
        </p:nvSpPr>
        <p:spPr>
          <a:xfrm>
            <a:off x="10735733" y="4250267"/>
            <a:ext cx="508000" cy="338667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6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|0⟩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947ED4-3D6C-4841-9267-AF1451D570A3}"/>
              </a:ext>
            </a:extLst>
          </p:cNvPr>
          <p:cNvSpPr/>
          <p:nvPr/>
        </p:nvSpPr>
        <p:spPr>
          <a:xfrm>
            <a:off x="1490134" y="2065867"/>
            <a:ext cx="1286933" cy="541867"/>
          </a:xfrm>
          <a:prstGeom prst="rect">
            <a:avLst/>
          </a:prstGeom>
          <a:solidFill>
            <a:srgbClr val="1C5B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533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Rz(−2</a:t>
            </a:r>
            <a:r>
              <a:rPr lang="el-GR" sz="1533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φ₀)</a:t>
            </a:r>
            <a:endParaRPr lang="en-IN" sz="1533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0C2E6F-77DD-4A34-9869-C507F562E4C5}"/>
              </a:ext>
            </a:extLst>
          </p:cNvPr>
          <p:cNvSpPr/>
          <p:nvPr/>
        </p:nvSpPr>
        <p:spPr>
          <a:xfrm>
            <a:off x="3149600" y="1964267"/>
            <a:ext cx="982133" cy="1524000"/>
          </a:xfrm>
          <a:prstGeom prst="rect">
            <a:avLst/>
          </a:prstGeom>
          <a:solidFill>
            <a:srgbClr val="1C5B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667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U_enc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6D99DC-8ECF-410D-A947-1F9978EBDE97}"/>
              </a:ext>
            </a:extLst>
          </p:cNvPr>
          <p:cNvSpPr/>
          <p:nvPr/>
        </p:nvSpPr>
        <p:spPr>
          <a:xfrm>
            <a:off x="4504267" y="2065867"/>
            <a:ext cx="1286933" cy="541867"/>
          </a:xfrm>
          <a:prstGeom prst="rect">
            <a:avLst/>
          </a:prstGeom>
          <a:solidFill>
            <a:srgbClr val="1C5B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533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Rz(−2</a:t>
            </a:r>
            <a:r>
              <a:rPr lang="el-GR" sz="1533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φ₁)</a:t>
            </a:r>
            <a:endParaRPr lang="en-IN" sz="1533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856A87-FAD5-44E8-A9B3-13EC9A6154D6}"/>
              </a:ext>
            </a:extLst>
          </p:cNvPr>
          <p:cNvSpPr/>
          <p:nvPr/>
        </p:nvSpPr>
        <p:spPr>
          <a:xfrm>
            <a:off x="6163734" y="1964267"/>
            <a:ext cx="982133" cy="1524000"/>
          </a:xfrm>
          <a:prstGeom prst="rect">
            <a:avLst/>
          </a:prstGeom>
          <a:solidFill>
            <a:srgbClr val="1C5B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667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U_enc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E58FD3-D00B-4DB7-89FF-8BC389B47972}"/>
              </a:ext>
            </a:extLst>
          </p:cNvPr>
          <p:cNvSpPr/>
          <p:nvPr/>
        </p:nvSpPr>
        <p:spPr>
          <a:xfrm>
            <a:off x="8229600" y="2065867"/>
            <a:ext cx="1286933" cy="541867"/>
          </a:xfrm>
          <a:prstGeom prst="rect">
            <a:avLst/>
          </a:prstGeom>
          <a:solidFill>
            <a:srgbClr val="1C5B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33" b="1" dirty="0">
                <a:solidFill>
                  <a:srgbClr val="FFFFFF"/>
                </a:solidFill>
                <a:latin typeface="Calibri"/>
              </a:rPr>
              <a:t>Rz(−2φ</a:t>
            </a:r>
            <a:r>
              <a:rPr lang="en-US" sz="1533" b="1" baseline="-25000" dirty="0">
                <a:solidFill>
                  <a:srgbClr val="FFFFFF"/>
                </a:solidFill>
                <a:latin typeface="Calibri"/>
              </a:rPr>
              <a:t>d</a:t>
            </a:r>
            <a:r>
              <a:rPr lang="en-US" sz="1533" b="1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243CCF-4183-442B-A1B7-C0A36A5B8C97}"/>
              </a:ext>
            </a:extLst>
          </p:cNvPr>
          <p:cNvSpPr/>
          <p:nvPr/>
        </p:nvSpPr>
        <p:spPr>
          <a:xfrm>
            <a:off x="1625600" y="4131733"/>
            <a:ext cx="609600" cy="609600"/>
          </a:xfrm>
          <a:prstGeom prst="rect">
            <a:avLst/>
          </a:prstGeom>
          <a:solidFill>
            <a:srgbClr val="1C5B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13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37086E-EDEB-4C60-AAC4-6EFBA71E1FCE}"/>
              </a:ext>
            </a:extLst>
          </p:cNvPr>
          <p:cNvSpPr/>
          <p:nvPr/>
        </p:nvSpPr>
        <p:spPr>
          <a:xfrm>
            <a:off x="8805333" y="4131733"/>
            <a:ext cx="609600" cy="609600"/>
          </a:xfrm>
          <a:prstGeom prst="rect">
            <a:avLst/>
          </a:prstGeom>
          <a:solidFill>
            <a:srgbClr val="1C5B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13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AE6B81C-386B-4F35-A43D-9047BF11D395}"/>
              </a:ext>
            </a:extLst>
          </p:cNvPr>
          <p:cNvSpPr/>
          <p:nvPr/>
        </p:nvSpPr>
        <p:spPr>
          <a:xfrm>
            <a:off x="3776133" y="4318000"/>
            <a:ext cx="237067" cy="237067"/>
          </a:xfrm>
          <a:prstGeom prst="ellipse">
            <a:avLst/>
          </a:prstGeom>
          <a:solidFill>
            <a:srgbClr val="FFFFFF"/>
          </a:solidFill>
          <a:ln w="28575" cap="flat" cmpd="sng" algn="ctr">
            <a:solidFill>
              <a:srgbClr val="1C5B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320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2C699D0-E014-4F23-B05F-436DB8D6262B}"/>
              </a:ext>
            </a:extLst>
          </p:cNvPr>
          <p:cNvSpPr/>
          <p:nvPr/>
        </p:nvSpPr>
        <p:spPr>
          <a:xfrm>
            <a:off x="6485467" y="4318000"/>
            <a:ext cx="237067" cy="237067"/>
          </a:xfrm>
          <a:prstGeom prst="ellipse">
            <a:avLst/>
          </a:prstGeom>
          <a:solidFill>
            <a:srgbClr val="1C5B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32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569C9E3-CDB9-4CE6-82D3-9DD48A4A93E9}"/>
              </a:ext>
            </a:extLst>
          </p:cNvPr>
          <p:cNvSpPr/>
          <p:nvPr/>
        </p:nvSpPr>
        <p:spPr>
          <a:xfrm>
            <a:off x="3132667" y="4978400"/>
            <a:ext cx="1524000" cy="745067"/>
          </a:xfrm>
          <a:prstGeom prst="rect">
            <a:avLst/>
          </a:prstGeom>
          <a:solidFill>
            <a:srgbClr val="1C5B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667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QSVT(</a:t>
            </a:r>
            <a:r>
              <a:rPr lang="el-GR" sz="1667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Φ)</a:t>
            </a:r>
            <a:endParaRPr lang="en-IN" sz="1667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23E6D6-3B6F-4387-952E-D2187A6CF14F}"/>
              </a:ext>
            </a:extLst>
          </p:cNvPr>
          <p:cNvSpPr/>
          <p:nvPr/>
        </p:nvSpPr>
        <p:spPr>
          <a:xfrm>
            <a:off x="5842000" y="4978400"/>
            <a:ext cx="1524000" cy="745067"/>
          </a:xfrm>
          <a:prstGeom prst="rect">
            <a:avLst/>
          </a:prstGeom>
          <a:solidFill>
            <a:srgbClr val="1C5B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667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QSVT(</a:t>
            </a:r>
            <a:r>
              <a:rPr lang="el-GR" sz="1667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Φ)†</a:t>
            </a:r>
            <a:endParaRPr lang="en-IN" sz="1667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4196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DBACAC2-D5E5-1744-73E6-C17BB0C28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96" y="863600"/>
            <a:ext cx="10661123" cy="59581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5BC4A2-7B78-4940-34E8-DB5FB336DA54}"/>
              </a:ext>
            </a:extLst>
          </p:cNvPr>
          <p:cNvSpPr txBox="1"/>
          <p:nvPr/>
        </p:nvSpPr>
        <p:spPr>
          <a:xfrm>
            <a:off x="493486" y="237067"/>
            <a:ext cx="10972800" cy="769441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>
                <a:solidFill>
                  <a:srgbClr val="1A1A1A"/>
                </a:solidFill>
                <a:ea typeface="Cambria"/>
              </a:rPr>
              <a:t>Measurement</a:t>
            </a:r>
            <a:endParaRPr lang="en-US" sz="4400" dirty="0">
              <a:solidFill>
                <a:srgbClr val="1A1A1A"/>
              </a:solidFill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904548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B63C6F-DAE8-A956-CE1A-C3A1AF09C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623" y="921657"/>
            <a:ext cx="8986871" cy="59363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05274C-2A70-DEA8-0E5B-F8E855C630DF}"/>
              </a:ext>
            </a:extLst>
          </p:cNvPr>
          <p:cNvSpPr txBox="1"/>
          <p:nvPr/>
        </p:nvSpPr>
        <p:spPr>
          <a:xfrm>
            <a:off x="493486" y="237067"/>
            <a:ext cx="10972800" cy="769441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>
                <a:solidFill>
                  <a:srgbClr val="1A1A1A"/>
                </a:solidFill>
                <a:ea typeface="Cambria"/>
              </a:rPr>
              <a:t>Results – Compar</a:t>
            </a:r>
            <a:r>
              <a:rPr lang="en-US" sz="4400">
                <a:solidFill>
                  <a:srgbClr val="1A1A1A"/>
                </a:solidFill>
                <a:ea typeface="Cambria"/>
              </a:rPr>
              <a:t>ison and Discussion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116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4517AF-6814-C492-B31F-559D33A34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" y="1281113"/>
            <a:ext cx="12001500" cy="42957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B64AC9-9A2F-92F4-CACB-AA226566604A}"/>
              </a:ext>
            </a:extLst>
          </p:cNvPr>
          <p:cNvSpPr txBox="1"/>
          <p:nvPr/>
        </p:nvSpPr>
        <p:spPr>
          <a:xfrm>
            <a:off x="101601" y="237067"/>
            <a:ext cx="11807371" cy="769441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>
                <a:solidFill>
                  <a:srgbClr val="1A1A1A"/>
                </a:solidFill>
                <a:ea typeface="Cambria"/>
              </a:rPr>
              <a:t>Complexity Comparison with Classical Methods</a:t>
            </a:r>
          </a:p>
        </p:txBody>
      </p:sp>
    </p:spTree>
    <p:extLst>
      <p:ext uri="{BB962C8B-B14F-4D97-AF65-F5344CB8AC3E}">
        <p14:creationId xmlns:p14="http://schemas.microsoft.com/office/powerpoint/2010/main" val="3158027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67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(key)</a:t>
            </a:r>
            <a:endParaRPr lang="en-US" sz="3867" dirty="0"/>
          </a:p>
        </p:txBody>
      </p:sp>
      <p:sp>
        <p:nvSpPr>
          <p:cNvPr id="3" name="Text 1"/>
          <p:cNvSpPr/>
          <p:nvPr/>
        </p:nvSpPr>
        <p:spPr>
          <a:xfrm>
            <a:off x="609600" y="1828800"/>
            <a:ext cx="5486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Harrow, Hassidim, Lloyd — Quantum algorithm for linear systems of equations, PRL 103, 150502 (2009).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Childs, Wiebe — Hamiltonian simulation using linear combinations of unitary operations, QIC 12, 901 (2012).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[3] Low, Chuang — Hamiltonian simulation by </a:t>
            </a:r>
            <a:r>
              <a:rPr lang="en-US" sz="140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qubitization</a:t>
            </a:r>
            <a:r>
              <a:rPr lang="en-US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Quantum 3, 163 (2019).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[4] </a:t>
            </a:r>
            <a:r>
              <a:rPr lang="en-US" sz="140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Gilyén</a:t>
            </a:r>
            <a:r>
              <a:rPr lang="en-US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Su, Low, Wiebe — Quantum singular value transformation and beyond, STOC 2019.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r>
              <a:rPr lang="en-US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[5] </a:t>
            </a:r>
            <a:r>
              <a:rPr lang="en-US" sz="1400" dirty="0" err="1">
                <a:solidFill>
                  <a:srgbClr val="1A1A1A"/>
                </a:solidFill>
                <a:ea typeface="+mn-lt"/>
                <a:cs typeface="+mn-lt"/>
              </a:rPr>
              <a:t>Xiaojin</a:t>
            </a:r>
            <a:r>
              <a:rPr lang="en-US" sz="1400" dirty="0">
                <a:solidFill>
                  <a:srgbClr val="1A1A1A"/>
                </a:solidFill>
                <a:ea typeface="+mn-lt"/>
                <a:cs typeface="+mn-lt"/>
              </a:rPr>
              <a:t> Zhu, Zoubin Ghahramani, and John D. Lafferty, Semi-supervised learning using gaussian fields and harmonic functions, (20th ICML), 2003, pp. 912–919.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Berry, Childs, Cleve, Kothari, Somma — Truncated Taylor series simulation, PRL 114, 090502 (2015).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[7] </a:t>
            </a:r>
            <a:r>
              <a:rPr lang="en-US" sz="140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Gleinig</a:t>
            </a:r>
            <a:r>
              <a:rPr lang="en-US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Hoefler — An efficient algorithm for sparse quantum state preparation, DAC 2021.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6339840" y="1828800"/>
            <a:ext cx="53035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Berry, Childs — Black-box Hamiltonian simulation and unitary implementation, QIC 12, 29 (2012).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[9] Chakraborty, </a:t>
            </a:r>
            <a:r>
              <a:rPr lang="en-US" sz="140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Gilyén</a:t>
            </a:r>
            <a:r>
              <a:rPr lang="en-US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Jeffery — The power of block-encoded matrix powers, ICALP 2019.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[10] Camps, Van </a:t>
            </a:r>
            <a:r>
              <a:rPr lang="en-US" sz="140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Beeumen</a:t>
            </a:r>
            <a:r>
              <a:rPr lang="en-US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— FABLE: fast approximate block-encodings, IEEE QCE 2022.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Spielman, Teng — Nearly-linear time Laplacian solvers, STOC 2004.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Sachdeva, Zhao — A simple and efficient parallel Laplacian solver, SPAA 2023.</a:t>
            </a:r>
            <a:endParaRPr lang="en-US" sz="1400" dirty="0"/>
          </a:p>
          <a:p>
            <a:r>
              <a:rPr lang="en-US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[13] </a:t>
            </a:r>
            <a:r>
              <a:rPr lang="en-US" sz="1400" dirty="0">
                <a:solidFill>
                  <a:srgbClr val="1A1A1A"/>
                </a:solidFill>
                <a:ea typeface="+mn-lt"/>
                <a:cs typeface="+mn-lt"/>
              </a:rPr>
              <a:t>Alok Shukla and Prakash Vedula, An efficient quantum algorithm for preparation of uniform quantum superposition states, </a:t>
            </a:r>
            <a:r>
              <a:rPr lang="en-US" sz="1400" dirty="0" err="1">
                <a:solidFill>
                  <a:srgbClr val="1A1A1A"/>
                </a:solidFill>
                <a:ea typeface="+mn-lt"/>
                <a:cs typeface="+mn-lt"/>
              </a:rPr>
              <a:t>arXiv</a:t>
            </a:r>
            <a:r>
              <a:rPr lang="en-US" sz="1400" dirty="0">
                <a:solidFill>
                  <a:srgbClr val="1A1A1A"/>
                </a:solidFill>
                <a:ea typeface="+mn-lt"/>
                <a:cs typeface="+mn-lt"/>
              </a:rPr>
              <a:t> preprint arXiv:2306.11747 (2024).</a:t>
            </a:r>
          </a:p>
          <a:p>
            <a:r>
              <a:rPr lang="en-US" sz="1400" dirty="0">
                <a:solidFill>
                  <a:srgbClr val="1A1A1A"/>
                </a:solidFill>
              </a:rPr>
              <a:t>[14] </a:t>
            </a:r>
            <a:r>
              <a:rPr lang="en-US" sz="1400" dirty="0">
                <a:solidFill>
                  <a:srgbClr val="1A1A1A"/>
                </a:solidFill>
                <a:ea typeface="+mn-lt"/>
                <a:cs typeface="+mn-lt"/>
              </a:rPr>
              <a:t>Dengyong Zhou, Olivier Bousquet, Thomas N. Lal, Jason Weston, and Bernhard Schölkopf, Learning with local and global consistency, </a:t>
            </a:r>
            <a:r>
              <a:rPr lang="en-US" sz="1400">
                <a:solidFill>
                  <a:srgbClr val="1A1A1A"/>
                </a:solidFill>
                <a:ea typeface="+mn-lt"/>
                <a:cs typeface="+mn-lt"/>
              </a:rPr>
              <a:t>Advances in Neural Information</a:t>
            </a:r>
            <a:r>
              <a:rPr lang="en-US" sz="1400" dirty="0">
                <a:solidFill>
                  <a:srgbClr val="1A1A1A"/>
                </a:solidFill>
                <a:ea typeface="+mn-lt"/>
                <a:cs typeface="+mn-lt"/>
              </a:rPr>
              <a:t> Processing Systems, vol. 16, 2004.</a:t>
            </a: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521440" y="6498336"/>
            <a:ext cx="487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333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33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440" y="2804160"/>
            <a:ext cx="10485120" cy="1219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867" b="1" dirty="0">
                <a:solidFill>
                  <a:srgbClr val="1F4E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5867" dirty="0"/>
          </a:p>
        </p:txBody>
      </p:sp>
      <p:sp>
        <p:nvSpPr>
          <p:cNvPr id="3" name="Text 1"/>
          <p:cNvSpPr/>
          <p:nvPr/>
        </p:nvSpPr>
        <p:spPr>
          <a:xfrm>
            <a:off x="11521440" y="6498336"/>
            <a:ext cx="487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333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33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440" y="2682240"/>
            <a:ext cx="10485120" cy="1219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850" b="1">
                <a:solidFill>
                  <a:srgbClr val="1A1A1A"/>
                </a:solidFill>
                <a:latin typeface="Cambria"/>
                <a:ea typeface="Cambria"/>
                <a:cs typeface="Cambria" pitchFamily="34" charset="-120"/>
              </a:rPr>
              <a:t>Thank you!</a:t>
            </a:r>
            <a:endParaRPr lang="en-US" sz="5867" dirty="0"/>
          </a:p>
        </p:txBody>
      </p:sp>
      <p:sp>
        <p:nvSpPr>
          <p:cNvPr id="4" name="Text 2"/>
          <p:cNvSpPr/>
          <p:nvPr/>
        </p:nvSpPr>
        <p:spPr>
          <a:xfrm>
            <a:off x="11521440" y="6498336"/>
            <a:ext cx="487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333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33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56C6C-7B3C-FD4E-7C7A-421D6775D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00C2B9-34F4-CAD3-5591-7E169233C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087" y="295275"/>
            <a:ext cx="7743825" cy="626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0540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CBD88-1665-DB68-A529-A1ABCC3B3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BB1D49-E7EA-518B-F858-59D4B5445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26944"/>
            <a:ext cx="12192000" cy="180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549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22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Quantum Linear System Algorithms for Graph-Based Financial Risk Diffusion</vt:lpstr>
      <vt:lpstr>Problem Statement</vt:lpstr>
      <vt:lpstr>Problem Statement: Example</vt:lpstr>
      <vt:lpstr>Problem Statement: Model</vt:lpstr>
      <vt:lpstr>Problem Statement – 3 Models</vt:lpstr>
      <vt:lpstr>Quantum Formulation</vt:lpstr>
      <vt:lpstr>PowerPoint Presentation</vt:lpstr>
      <vt:lpstr>Shock State Preparation Circuit Example</vt:lpstr>
      <vt:lpstr>Block Encoding (Low and Chuang, 2016)</vt:lpstr>
      <vt:lpstr>Block Encoding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435</cp:revision>
  <dcterms:created xsi:type="dcterms:W3CDTF">2013-07-15T20:26:40Z</dcterms:created>
  <dcterms:modified xsi:type="dcterms:W3CDTF">2026-07-07T08:01:18Z</dcterms:modified>
</cp:coreProperties>
</file>